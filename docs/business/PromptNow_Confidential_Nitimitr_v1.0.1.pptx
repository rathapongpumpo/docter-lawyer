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  <p:sldMasterId id="2147483652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66"/>
    <p:restoredTop sz="94575"/>
  </p:normalViewPr>
  <p:slideViewPr>
    <p:cSldViewPr snapToGrid="0" snapToObjects="1">
      <p:cViewPr>
        <p:scale>
          <a:sx n="112" d="100"/>
          <a:sy n="112" d="100"/>
        </p:scale>
        <p:origin x="43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52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ข้อความเคสผิดสัญญาทางการค้าในหน้าจอนี้ (ใช้เล่าประกอบ)
ข้อความในหน้าจอ
ช่องถาม: รับเหมาตกแต่งร้านให้ลูกค้า ส่งงานช้า 15 วันเพราะวัสดุมาช้า ลูกค้าจะหักค่าปรับวันละ 20,000 บาท รวม 300,000 บาท จากค่าจ้าง 1.2 ล้าน ต้องจ่ายเต็มไหม
คำถามตัวอย่าง: “โดนปรับเพราะส่งงานช้า” · “ซัพพลายเออร์ส่งของไม่ตรงสเปก” · “ถูกเลิกสัญญากะทันหัน”
หมวดยอดนิยม: สัญญาและหนี้ · แรงงาน · ผู้บริโภค · ที่ดิน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ข้อความเคสผิดสัญญาทางการค้าในหน้าจอนี้ (ใช้เล่าประกอบ)
ข้อความในหน้าจอ
AI: ขอถามเพิ่ม 3 ข้อเพื่อตอบให้ตรงกับเรื่องของคุณ
1) สัญญากำหนดค่าปรับไว้อย่างไร มีเพดานค่าปรับสูงสุดหรือไม่ [วันละจำนวนคงที่ / เป็น % ของค่าจ้าง / ไม่แน่ใจ]
2) งานล่าช้าเพราะเหตุใด ผู้ว่าจ้างมีส่วนทำให้ช้าหรือไม่ เช่น แก้แบบ ส่งพื้นที่ช้า [มี / ไม่มี / ไม่แน่ใจ]
3) ลูกค้ารับมอบงานแล้วหรือยัง และตอนรับมอบได้แจ้งสงวนสิทธิเรียกค่าปรับไว้หรือไม่ [สงวนสิทธิ / ไม่ได้สงวนสิทธิ / ยังไม่รับมอบ]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ข้อความเคสผิดสัญญาทางการค้าในหน้าจอนี้ (ใช้เล่าประกอบ)
ข้อความในหน้าจอ
สรุป: ค่าปรับส่งงานล่าช้าตามสัญญาคือ “เบี้ยปรับ” ถ้าสูงเกินส่วน ศาลลดลงเป็นจำนวนพอสมควรได้ (ป.พ.พ. ม.383) และถ้าลูกค้ารับมอบงานแล้วโดยไม่ได้บอกสงวนสิทธิไว้ตอนรับมอบ จะเรียกเบี้ยปรับไม่ได้ (ม.381 วรรคสาม)
สิทธิของคุณ: ขอให้ลดค่าปรับโดยแสดงว่าผู้ว่าจ้างเสียหายจริงไม่มากเท่าค่าปรับ และโต้แย้งส่วนที่ล่าช้าเพราะผู้ว่าจ้าง
ขั้นตอน: 1) ตรวจข้อสัญญาเรื่องค่าปรับและการตรวจรับ 2) รวบรวมหลักฐานเหตุล่าช้า 3) ทำหนังสือขอเจรจาลดค่าปรับ
เอกสาร: สัญญาจ้าง ใบตรวจรับงาน อีเมล/LINE เรื่องแก้แบบ ใบส่งวัสดุ
เมื่อไรควรหาทนาย: ลูกค้าหักเงินไปแล้วและไม่ยอมเจรจา หรือยอดพิพาทสูง
อ้างอิง: ป.พ.พ. ม.379, 381, 383 · ข้อมูล ณ วันที่ ... · ข้อมูลกฎหมายทั่วไป ไม่ใช่คำปรึกษาเฉพาะคดี
ทางเลือกเคสอื่น
ข้อความในหน้าจอ
สรุป: สัญญาไม่มีข้อเลิกสัญญาไม่ได้แปลว่าเลิกไม่ได้ ถ้าซัพพลายเออร์ไม่ชำระหนี้ให้ถูกต้อง คุณบอกกล่าวให้แก้ไขภายในระยะเวลาพอสมควร ถ้ายังไม่แก้ เลิกสัญญาได้ (ป.พ.พ. ม.387)
สิทธิ: ผู้ขายต้องรับผิดในความชำรุดบกพร่อง (ม.472) และเรียกค่าเสียหายจากการไม่ชำระหนี้ได้ (ม.215)
ข้อควรระวัง: ถ้ารับของที่เห็นความชำรุดได้ชัดไว้โดยไม่ทักท้วง ผู้ขายอาจไม่ต้องรับผิด (ม.473) จึงควรทักท้วงเป็นหนังสือทุกครั้งที่รับของ
เอกสาร: สัญญาซื้อขาย ใบส่งของ รูปถ่ายสินค้า ผลตรวจสเปก หนังสือทักท้วง
ถัดไป: [คู่มือส่งหนังสือบอกกล่าว] [หาหน่วยงานไกล่เกลี่ย]
ข้อความในหน้าจอ
ผู้ใช้: ลูกค้าบอกเลิกสัญญาจ้างกลางงาน ทำไปแล้ว 60% แล้วไม่จ่ายงวดที่ค้าง
สรุป: ผู้ว่าจ้างมีสิทธิบอกเลิกสัญญาก่อนงานเสร็จได้ แต่ต้องเสียค่าสินไหมทดแทนให้ผู้รับจ้างสำหรับความเสียหายจากการเลิกสัญญา (ป.พ.พ. ม.605)
สิ่งที่เรียกร้องได้: ค่างานที่ทำไปแล้วตามควรค่า (ม.391) · ค่าวัสดุที่สั่งไว้แล้ว · ค่าเสียหายจากการเลิกสัญญา
ขั้นตอน: 1) ทำบันทึกและถ่ายภาพสภาพงาน ณ วันที่ถูกเลิก 2) สรุปค่างานและค่าวัสดุ 3) ส่งหนังสือทวงถาม
เมื่อไรควรหาทนาย: ยอดเรียกร้องสูง หรือสัญญามีข้อตกลงให้ใช้อนุญาโตตุลาการ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ข้อความเคสผิดสัญญาทางการค้าในหน้าจอนี้ (ใช้เล่าประกอบ)
ข้อความในหน้าจอ
ผู้ใช้: ซัพพลายเออร์ส่งกระเบื้องสีเพี้ยน แตกร้าว มาแล้ว 3 ล็อต สัญญาซื้อ 12 เดือนไม่มีข้อให้เลิกสัญญา พบปัญหาล็อตแรกเมื่อ 10 เดือนก่อน
แถบเตือน (เด่นชัด): ใกล้หมดอายุความ — การฟ้องให้ผู้ขายรับผิดในความชำรุดบกพร่องต้องทำภายใน 1 ปีนับแต่พบความชำรุด (ป.พ.พ. ม.474) ล็อตแรกของคุณเหลือเวลาประมาณ 2 เดือน
ปุ่ม: ดูขั้นตอนเร่งด่วน · ติดต่อหน่วยงานช่วยเหลือ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ข้อความเคสผิดสัญญาทางการค้าในหน้าจอนี้ (ใช้เล่าประกอบ)
ข้อความในหน้าจอ
หัวแผง: ประมวลกฎหมายแพ่งและพาณิชย์ มาตรา 383 · ฉบับที่มีผลบังคับ ณ วันที่ข้อมูล
ตัวบท: “ถ้าเบี้ยปรับที่ริบนั้นสูงเกินส่วน ศาลจะลดลงเป็นจำนวนพอสมควรก็ได้ ...” (ใส่ข้อความเต็มจากฉบับทางการ)
ภาษาง่าย: ศาลพิจารณาทางได้เสียทุกอย่างของผู้ว่าจ้าง ไม่ใช่ดูเฉพาะความเสียหายที่เป็นตัวเงินหรือตัวเลขในสัญญา
มาตราที่เกี่ยวข้อง: ม.379 · ม.380 · ม.381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ข้อความเคสผิดสัญญาทางการค้าในหน้าจอนี้ (ใช้เล่าประกอบ)
ข้อความในหน้าจอ
หมวด: สัญญาและหนี้
บทความแนะนำ: “5 ข้อสัญญาที่ต้องอ่านก่อนเซ็น: ค่าปรับ การส่งมอบ การตรวจรับ การเลิกสัญญา การระงับข้อพิพาท” · “ข้อสัญญาที่ไม่เป็นธรรมคืออะไร (พ.ร.บ.ว่าด้วยข้อสัญญาที่ไม่เป็นธรรม พ.ศ. 2540)” · “ส่งงานช้าแล้วโดนปรับ ต้องจ่ายเท่าไร”
ตัวบท: ป.พ.พ. บรรพ 2 ลักษณะ 1 (หนี้) · ลักษณะ 2 (สัญญา)
อภิธานศัพท์: เบี้ยปรับ · มัดจำ · บอกกล่าว · ผิดนัด · สงวนสิทธิ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ข้อความเคสผิดสัญญาทางการค้าในหน้าจอนี้ (ใช้เล่าประกอบ)
ตัวอย่างบทเรียนเข้ากับเคส: “สัญญา 101 — อ่านสัญญาก่อนเซ็น: ค่าปรับ การส่งมอบ การตรวจรับ การเลิกสัญญา”
แบบทดสอบ: ถ้ารับมอบงานที่ส่งช้าโดยไม่บอกสงวนสิทธิ ยังเรียกค่าปรับได้หรือไม่ (เฉลย: ไม่ได้ ตาม ป.พ.พ. ม.381 วรรคสาม)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ข้อความเคสผิดสัญญาทางการค้าในหน้าจอนี้ (ใช้เล่าประกอบ)
ข้อความในหน้าจอ
คู่มือ: ส่งหนังสือบอกกล่าวให้แก้ไขการผิดสัญญา
[ ] 1. รวบรวมสัญญาและหลักฐานการผิดสัญญา (ใบส่งของ รูปถ่าย ผลตรวจสเปก)
[ ] 2. ระบุสิ่งที่ต้องแก้ไขและกำหนดระยะเวลาที่พอสมควร
[ ] 3. ส่งหนังสือทางไปรษณีย์ลงทะเบียนตอบรับ
[ ] 4. เก็บใบตอบรับไว้เป็นหลักฐาน
[ ] 5. ครบกำหนดแล้วยังไม่แก้ไข ส่งหนังสือบอกเลิกสัญญา
สถานที่: ที่ทำการไปรษณีย์ · ค่าใช้จ่าย: ค่าส่งลงทะเบียนตอบรับ · ฐานกฎหมาย: ป.พ.พ. ม.387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ข้อความเคสผิดสัญญาทางการค้าในหน้าจอนี้ (ใช้เล่าประกอบ)
ข้อความในหน้าจอ
ผลการประเมิน (กรณีถูกเลิกสัญญาจ้าง ค่างานค้างชำระ 480,000 บาท)
ประเภทคดี: คดีแพ่ง ผิดสัญญาจ้างทำของ
ศาลที่น่าจะมีอำนาจ: ศาลที่จำเลยมีภูมิลำเนา หรือศาลที่มูลคดีเกิดในเขต (ป.วิ.พ. ม.4)
ค่าขึ้นศาลโดยประมาณ: ระบบคำนวณจากทุนทรัพย์
อายุความ: ค่าการงานของผู้ประกอบการมีอายุความสั้นกว่าหนี้ทั่วไป ระบบแสดงวันครบกำหนด
คำแนะนำ: ทุนทรัพย์ค่อนข้างสูง ควรปรึกษาทนาย หรือใช้การไกล่เกลี่ยก่อนฟ้อง
หน่วยงานช่วยเหลือ: ศูนย์ไกล่เกลี่ยข้อพิพาทของศาล · สภาทนายความฯ (ช่วยเหลือประชาชนทางกฎหมาย) · สถาบันอนุญาโตตุลาการ (THAC)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ข้อความเคสผิดสัญญาทางการค้าในหน้าจอนี้ (ใช้เล่าประกอบ)
ข้อความในหน้าจอ
ฝั่งผู้ใช้: ปุ่ม พอใจ / ไม่พอใจ · เหตุผล: [ข้อมูลไม่ครบ] [อ้างอิงไม่ตรง] [อ่านไม่เข้าใจ] · “ไม่ได้บอกว่าต้องสงวนสิทธิตอนรับมอบงาน”
ฝั่งหลังบ้าน: คิวตรวจ · หมวด: สัญญาและหนี้ · สถานะ: รอตรวจ · ผู้ตรวจ: นักกฎหมาย · การดำเนินการ: แก้คำตอบ / เพิ่มเข้าชุดทดสอบ / สร้างงานเติมเนื้อหา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42DE4E-E509-DB02-F341-995D2EF47C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4758421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fld id="{A9D18BDB-6B7A-F341-9772-AC8FC6C78383}" type="slidenum">
              <a:rPr lang="en-TH" smtClean="0"/>
              <a:pPr/>
              <a:t>‹#›</a:t>
            </a:fld>
            <a:endParaRPr lang="en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N.ai" descr="PN.ai">
            <a:extLst>
              <a:ext uri="{FF2B5EF4-FFF2-40B4-BE49-F238E27FC236}">
                <a16:creationId xmlns:a16="http://schemas.microsoft.com/office/drawing/2014/main" id="{C6B31350-FCE5-71E8-99D2-E88A478B1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36640" t="29915" r="36613" b="33110"/>
          <a:stretch>
            <a:fillRect/>
          </a:stretch>
        </p:blipFill>
        <p:spPr>
          <a:xfrm>
            <a:off x="170775" y="0"/>
            <a:ext cx="8973225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650A696-0957-7C3B-26B3-34342DF84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4758421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fld id="{A9D18BDB-6B7A-F341-9772-AC8FC6C78383}" type="slidenum">
              <a:rPr lang="en-TH" smtClean="0"/>
              <a:pPr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1153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N.ai" descr="PN.ai">
            <a:extLst>
              <a:ext uri="{FF2B5EF4-FFF2-40B4-BE49-F238E27FC236}">
                <a16:creationId xmlns:a16="http://schemas.microsoft.com/office/drawing/2014/main" id="{C6B31350-FCE5-71E8-99D2-E88A478B18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36640" t="29915" r="36613" b="33110"/>
          <a:stretch>
            <a:fillRect/>
          </a:stretch>
        </p:blipFill>
        <p:spPr>
          <a:xfrm>
            <a:off x="170775" y="0"/>
            <a:ext cx="8973225" cy="51435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1F80D99-3DDB-E515-F7BA-B7B22CCDA353}"/>
              </a:ext>
            </a:extLst>
          </p:cNvPr>
          <p:cNvGrpSpPr/>
          <p:nvPr userDrawn="1"/>
        </p:nvGrpSpPr>
        <p:grpSpPr>
          <a:xfrm>
            <a:off x="404705" y="4006351"/>
            <a:ext cx="8334590" cy="732695"/>
            <a:chOff x="-105603" y="3869191"/>
            <a:chExt cx="8334590" cy="732695"/>
          </a:xfrm>
        </p:grpSpPr>
        <p:pic>
          <p:nvPicPr>
            <p:cNvPr id="3" name="letspay Logo.ai" descr="letspay Logo.ai">
              <a:extLst>
                <a:ext uri="{FF2B5EF4-FFF2-40B4-BE49-F238E27FC236}">
                  <a16:creationId xmlns:a16="http://schemas.microsoft.com/office/drawing/2014/main" id="{C5DCB498-CFAF-96F1-FABC-54581698E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997041" y="4166850"/>
              <a:ext cx="1121898" cy="322552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" name="Raijin.ai" descr="Raijin.ai">
              <a:extLst>
                <a:ext uri="{FF2B5EF4-FFF2-40B4-BE49-F238E27FC236}">
                  <a16:creationId xmlns:a16="http://schemas.microsoft.com/office/drawing/2014/main" id="{A7AFFF19-BCCE-4482-B538-8164287531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224354" y="4166850"/>
              <a:ext cx="1152626" cy="349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" name="Susanoo-X Logo.ai" descr="Susanoo-X Logo.ai">
              <a:extLst>
                <a:ext uri="{FF2B5EF4-FFF2-40B4-BE49-F238E27FC236}">
                  <a16:creationId xmlns:a16="http://schemas.microsoft.com/office/drawing/2014/main" id="{0927B973-A876-8678-CFE7-51C550CE51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05603" y="4056488"/>
              <a:ext cx="877352" cy="445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Fujin.ai" descr="Fujin.ai">
              <a:extLst>
                <a:ext uri="{FF2B5EF4-FFF2-40B4-BE49-F238E27FC236}">
                  <a16:creationId xmlns:a16="http://schemas.microsoft.com/office/drawing/2014/main" id="{F91B78A4-182C-90A2-D7C4-128E23269C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4482395" y="4181965"/>
              <a:ext cx="1152626" cy="393376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" name="Zenjin.ai" descr="Zenjin.ai">
              <a:extLst>
                <a:ext uri="{FF2B5EF4-FFF2-40B4-BE49-F238E27FC236}">
                  <a16:creationId xmlns:a16="http://schemas.microsoft.com/office/drawing/2014/main" id="{FBAEE287-3C0F-331F-305A-7393F21374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5740436" y="4252683"/>
              <a:ext cx="1152390" cy="349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PlayDeal Logo.ai" descr="PlayDeal Logo.ai">
              <a:extLst>
                <a:ext uri="{FF2B5EF4-FFF2-40B4-BE49-F238E27FC236}">
                  <a16:creationId xmlns:a16="http://schemas.microsoft.com/office/drawing/2014/main" id="{26376316-AB4D-DABF-657F-A0E45B91C1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6998241" y="4279089"/>
              <a:ext cx="1230746" cy="27943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Susanoo-R Logo.ai" descr="Susanoo-R Logo.ai">
              <a:extLst>
                <a:ext uri="{FF2B5EF4-FFF2-40B4-BE49-F238E27FC236}">
                  <a16:creationId xmlns:a16="http://schemas.microsoft.com/office/drawing/2014/main" id="{5AE5B6FE-52AB-9810-F365-C7533FEBDC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877164" y="3869191"/>
              <a:ext cx="1014462" cy="632500"/>
            </a:xfrm>
            <a:prstGeom prst="rect">
              <a:avLst/>
            </a:prstGeom>
            <a:ln w="12700">
              <a:miter lim="400000"/>
            </a:ln>
          </p:spPr>
        </p:pic>
      </p:grpSp>
    </p:spTree>
    <p:extLst>
      <p:ext uri="{BB962C8B-B14F-4D97-AF65-F5344CB8AC3E}">
        <p14:creationId xmlns:p14="http://schemas.microsoft.com/office/powerpoint/2010/main" val="1911251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5899-3DCA-656F-95AD-0727663F8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ECDEE-CC61-FE5F-4BDC-BFA8F3588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209BE-438A-7D27-770A-2540859DC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1E05A-3D4C-E850-99C0-E911513F7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825C6-6423-1669-3442-C18C3340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0487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D7AB-7112-FF20-67A8-2F8356B92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45FE4-4B75-3D3F-B105-0D844182F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B0EB7-C92C-F724-FBC4-2B338EAD2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D12DA-D250-FF22-EB19-4AF9AFA8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FAD10-01CE-68D3-4DBA-66901B09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2217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9EA60-97B1-FD50-D51A-A2E8347F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BD1E4-85C0-ACDE-0340-136455E23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619EC-9750-98F9-3F5C-1A98F9F3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D61C4-3356-F9A1-629F-C133EF45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174E9-63F5-7F97-58EA-2CABE4F1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06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C5C2D-A554-205A-8F08-66F72B043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A8EEC-5B30-0893-6013-28EDD4B65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8AD6E-BFA9-561A-502D-3E92D9BE8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13A41-8921-02D3-46AE-E9A64E71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33285-0BB4-CF49-A05D-BF0623A3D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D7934-848C-2642-3AAB-D7D79A9D8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024797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8E71-D98C-B45E-1117-087BF8251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BFC9-47F3-36F1-750C-0751C7AE1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162D8-CF42-E9D7-FADF-BA579453C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0C5CF-8BEE-7DE4-8307-C7CB53890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7C9A82-D4B2-E5A0-3C2E-B67E8C977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EF5F74-8364-5DD1-9D3D-0806BBCD5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66BFBB-F2E7-54DD-8B73-0E1166725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9B0D-7455-E310-247E-FC40D2A1E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304427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9963-22A2-6C04-DA69-8A3668EA7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E98427-7AAD-89B1-572C-551B45255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69EED-920B-E068-7A72-C615E97DD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46E2F-7A18-8465-62C9-7FFD65D9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1327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E64707-7EA9-2D2F-73EA-ADA3AEC0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A1AE2-D5FD-C247-38FD-9B2624BC3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B7B25-746D-D73E-072F-16ADAA572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6941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56D9F-A923-C3FF-2CF2-605A3280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BFD9B-A2F4-3093-D4A6-2287E739A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8ECBB-8AAF-BD31-12B1-284392F4D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8DD03-DA6E-E386-EAE7-D173D52A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052F9-BEA8-E906-2472-6B4E59B6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FE9B0-934B-34F0-44DF-D63202740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070977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30D0-43D5-2EEF-8811-0658F45C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32043-A1B2-0880-CB59-52D5519E6E9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0677A-48E0-FCA6-2DCF-80E39BC0A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DF83B-AC13-DD87-135E-5C88F31D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D303D-FCFE-EE16-3899-768A4E789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82B6F-0303-C3F2-589B-E9CAE138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509197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0A099-BD7C-7DC2-E967-FA63C75CB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07593-B206-2AD7-DBBE-77130212B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DF1E3-BE77-FF6D-33FD-30B9149B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1A3FA-4B55-4DF0-9A3A-F173C84E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C8E3B-45F7-3369-B9AE-9FF3716A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35571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64E052-C448-279B-16CC-661C656ED7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E0BDE-56B3-D421-A514-86075E89C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FC055-87B5-01A9-56B0-C6C83883D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56715-2B9B-466E-D72C-FA10A9D7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7AE75-FBFE-70BF-ED0F-65A14A575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5993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">
            <a:extLst>
              <a:ext uri="{FF2B5EF4-FFF2-40B4-BE49-F238E27FC236}">
                <a16:creationId xmlns:a16="http://schemas.microsoft.com/office/drawing/2014/main" id="{C22CC65F-2464-447B-9E7B-8FAD17EF89E6}"/>
              </a:ext>
            </a:extLst>
          </p:cNvPr>
          <p:cNvSpPr/>
          <p:nvPr userDrawn="1"/>
        </p:nvSpPr>
        <p:spPr>
          <a:xfrm>
            <a:off x="-1" y="0"/>
            <a:ext cx="180000" cy="5148000"/>
          </a:xfrm>
          <a:prstGeom prst="rect">
            <a:avLst/>
          </a:prstGeom>
          <a:solidFill>
            <a:srgbClr val="13BCC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914400">
              <a:defRPr sz="1800">
                <a:solidFill>
                  <a:srgbClr val="FFFFFF"/>
                </a:solidFill>
                <a:latin typeface="SukhumvitSet-Text"/>
                <a:ea typeface="SukhumvitSet-Text"/>
                <a:cs typeface="SukhumvitSet-Text"/>
                <a:sym typeface="Sukhumvit Set Text"/>
              </a:defRPr>
            </a:pPr>
            <a:endParaRPr/>
          </a:p>
        </p:txBody>
      </p:sp>
      <p:pic>
        <p:nvPicPr>
          <p:cNvPr id="5" name="image2.png" descr="image2.png">
            <a:extLst>
              <a:ext uri="{FF2B5EF4-FFF2-40B4-BE49-F238E27FC236}">
                <a16:creationId xmlns:a16="http://schemas.microsoft.com/office/drawing/2014/main" id="{96A5B6C9-A2DA-6084-A5F3-E920AAAC019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694426" y="4772630"/>
            <a:ext cx="2185538" cy="18000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Confidential - Do not distribute.…">
            <a:extLst>
              <a:ext uri="{FF2B5EF4-FFF2-40B4-BE49-F238E27FC236}">
                <a16:creationId xmlns:a16="http://schemas.microsoft.com/office/drawing/2014/main" id="{6EE1122B-5731-6879-6038-76322BF2D0AA}"/>
              </a:ext>
            </a:extLst>
          </p:cNvPr>
          <p:cNvSpPr txBox="1"/>
          <p:nvPr userDrawn="1"/>
        </p:nvSpPr>
        <p:spPr>
          <a:xfrm>
            <a:off x="264036" y="4784941"/>
            <a:ext cx="6034349" cy="221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algn="l" defTabSz="584200">
              <a:lnSpc>
                <a:spcPct val="80000"/>
              </a:lnSpc>
              <a:defRPr sz="1400">
                <a:solidFill>
                  <a:srgbClr val="4467AE"/>
                </a:solidFill>
                <a:latin typeface="SukhumvitSet-Text"/>
                <a:ea typeface="SukhumvitSet-Text"/>
                <a:cs typeface="SukhumvitSet-Text"/>
                <a:sym typeface="Sukhumvit Set Text"/>
              </a:defRPr>
            </a:pPr>
            <a:r>
              <a:rPr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Confidential - Do not distribute.</a:t>
            </a:r>
          </a:p>
          <a:p>
            <a:pPr algn="l" defTabSz="584200">
              <a:lnSpc>
                <a:spcPct val="80000"/>
              </a:lnSpc>
              <a:defRPr sz="1400">
                <a:solidFill>
                  <a:srgbClr val="4467AE"/>
                </a:solidFill>
                <a:latin typeface="SukhumvitSet-Text"/>
                <a:ea typeface="SukhumvitSet-Text"/>
                <a:cs typeface="SukhumvitSet-Text"/>
                <a:sym typeface="Sukhumvit Set Text"/>
              </a:defRPr>
            </a:pPr>
            <a:r>
              <a:rPr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©202</a:t>
            </a:r>
            <a:r>
              <a:rPr lang="en-US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  <a:r>
              <a:rPr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PromptNow Co., Ltd. All rights reserved.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82BA0CD-7FF4-517B-60BC-FCCC00739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43300" y="4758421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ctr"/>
            <a:fld id="{A9D18BDB-6B7A-F341-9772-AC8FC6C78383}" type="slidenum">
              <a:rPr lang="en-TH" smtClean="0"/>
              <a:pPr/>
              <a:t>‹#›</a:t>
            </a:fld>
            <a:endParaRPr lang="en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0FE1F-8EB2-26AE-D2DE-B909D44D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35616-C6C9-5ABF-93A3-4E0011B27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A7644-292A-F1A9-AC45-A3AC98B22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CBC9B-8B92-F4EB-0CCC-318910D689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E8BF9-9E47-5AAD-9BAF-F8FD3804A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18BDB-6B7A-F341-9772-AC8FC6C78383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89209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โครงการ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นิติมิตร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ผู้ช่วย AI </a:t>
            </a:r>
            <a:r>
              <a:rPr lang="en-US" sz="1800" dirty="0" err="1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ด้านกฎหมายไทย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รายการฟีเจอร์และหน้าจอต้นแบบ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กรณีตัวอย่าง: สัญญาทางการค้าและการผิดสัญญา (Breach of Contract)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347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Version 1.0.1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2194560" cy="2194560"/>
          </a:xfrm>
          <a:prstGeom prst="ellipse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6812280" y="1737360"/>
            <a:ext cx="1188720" cy="11887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203454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ครบในที่เดียว ตั้งแต่เข้าใจสิทธิจนถึงลงมือทำ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25146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ถาม-ตอบกับ AI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51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เล่าปัญหาด้วยภาษาของตัวเอง ได้คำตอบทันที พร้อมตัวบทกฎหมายที่คลิกดูต้นฉบับได้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4408" y="1325880"/>
            <a:ext cx="2606040" cy="25146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8"/>
          <p:cNvSpPr/>
          <p:nvPr/>
        </p:nvSpPr>
        <p:spPr>
          <a:xfrm>
            <a:off x="3538728" y="155448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5888" y="16916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38728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คลังความรู้ 18 หมวด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38728" y="2651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บทความ 3 ระดับ ตัวบทแยกตามวันที่มีผลบังคับ และอภิธานศัพท์ ผ่านการตรวจโดยนักกฎหมาย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71616" y="1325880"/>
            <a:ext cx="2606040" cy="251460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2"/>
          <p:cNvSpPr/>
          <p:nvPr/>
        </p:nvSpPr>
        <p:spPr>
          <a:xfrm>
            <a:off x="6345936" y="1554480"/>
            <a:ext cx="548640" cy="54864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16916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45936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เครื่องมือลงมือทำ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345936" y="26517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คู่มือทำนิติกรรมทีละขั้น แบบฟอร์มสัญญา ตัวช่วยนำทางสู่ศาล และหน่วยงานช่วยเหลือ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ให้ข้อมูลกฎหมายทั่วไป ไม่ใช่คำปรึกษาเฉพาะคดี · ทุกคำตอบมีแหล่งอ้างอิงและวันที่ของข้อมูล</a:t>
            </a:r>
            <a:endParaRPr lang="en-US" sz="1100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E4C4A5B-6869-A42B-41F3-6155A4649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</a:t>
            </a:fld>
            <a:endParaRPr lang="en-T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รายการฟีเจอร์ · เฟส 1 (MVP)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ความสามารถหลักที่ต้องมีก่อนเปิดใช้งาน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แชทกับ AI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 txBox="1"/>
          <p:nvPr/>
        </p:nvSpPr>
        <p:spPr>
          <a:xfrm>
            <a:off x="457200" y="16002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R-03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56362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ถามด้วยภาษาตัวเอง ได้คำตอบตามโครง สรุป · สิทธิ · ขั้นตอน · เอกสาร · ระยะเวลา · เมื่อไรควรหาทนาย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457200" y="20391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R-04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0025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อ้างอิงตัวบทที่คลิกดูได้ พร้อมวันที่ข้อมูล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68296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457200" y="236829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R-05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33172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ถามกลับเมื่อข้อมูลไม่พอ และเสนอขั้นตอนถัดไป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457200" y="26974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R-06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266090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ตรวจจับเหตุเร่งด่วน และแสดงสายด่วนทันที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บัญชีและประวัติแชท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160020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 txBox="1"/>
          <p:nvPr/>
        </p:nvSpPr>
        <p:spPr>
          <a:xfrm>
            <a:off x="4663440" y="16002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R-01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285232" y="15636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ใช้ได้ทันทีโดยไม่ต้องสมัคร ย้ายประวัติเข้าบัญชีภายหลังได้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929384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 txBox="1"/>
          <p:nvPr/>
        </p:nvSpPr>
        <p:spPr>
          <a:xfrm>
            <a:off x="4663440" y="192938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R-02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285232" y="189280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สมัครสมาชิก ความยินยอม PDPA แยกตามวัตถุประสงค์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25856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 txBox="1"/>
          <p:nvPr/>
        </p:nvSpPr>
        <p:spPr>
          <a:xfrm>
            <a:off x="4663440" y="22585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R-07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285232" y="222199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จัดการประวัติแชท และแชร์แบบอ่านอย่างเดียว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587752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 txBox="1"/>
          <p:nvPr/>
        </p:nvSpPr>
        <p:spPr>
          <a:xfrm>
            <a:off x="4663440" y="25877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R-08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285232" y="255117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ให้คะแนนคำตอบ ส่งคำตอบที่ถูกติเข้าคิวนักกฎหมาย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ความรู้และการลงมือทำ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 txBox="1"/>
          <p:nvPr/>
        </p:nvSpPr>
        <p:spPr>
          <a:xfrm>
            <a:off x="457200" y="35204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R-10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078992" y="348386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คลังความรู้ 18 หมวด ค้นหาด้วยเลขมาตราได้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3849624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 txBox="1"/>
          <p:nvPr/>
        </p:nvSpPr>
        <p:spPr>
          <a:xfrm>
            <a:off x="457200" y="38496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R-12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078992" y="3813048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คู่มือทำนิติกรรมทีละขั้น 20 เรื่อง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417880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 txBox="1"/>
          <p:nvPr/>
        </p:nvSpPr>
        <p:spPr>
          <a:xfrm>
            <a:off x="457200" y="41788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R-16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078992" y="4142232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หน่วยงานช่วยเหลือและสายด่วน กรองตามจังหวัด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4663440" y="3154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ระบบหลังบ้าน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663440" y="352044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 txBox="1"/>
          <p:nvPr/>
        </p:nvSpPr>
        <p:spPr>
          <a:xfrm>
            <a:off x="4663440" y="35204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R-17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5285232" y="348386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ตรวจ อนุมัติเนื้อหา นำเข้าตัวบท คิว feedback และจัดการผู้ใช้</a:t>
            </a:r>
            <a:endParaRPr lang="en-US" sz="950" dirty="0"/>
          </a:p>
        </p:txBody>
      </p:sp>
      <p:sp>
        <p:nvSpPr>
          <p:cNvPr id="45" name="Slide Number Placeholder 44">
            <a:extLst>
              <a:ext uri="{FF2B5EF4-FFF2-40B4-BE49-F238E27FC236}">
                <a16:creationId xmlns:a16="http://schemas.microsoft.com/office/drawing/2014/main" id="{2D01DBDE-5715-5E04-26BE-669612EC52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2</a:t>
            </a:fld>
            <a:endParaRPr lang="en-T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รายการฟีเจอร์ · เฟส 2–3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ต่อยอดเป็นเครื่องมือลงมือทำครบวงจร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เฟส 2 · ควรมี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1848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 txBox="1"/>
          <p:nvPr/>
        </p:nvSpPr>
        <p:spPr>
          <a:xfrm>
            <a:off x="457200" y="16184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R-09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15819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แนบรูปหรือ PDF เช่น สัญญา หมายศาล ให้ AI อธิบาย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457200" y="198424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R-11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19476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หลักสูตรเรียนจาก 0 พร้อมแบบทดสอบ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457200" y="235000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23134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แบบฟอร์มสัญญาแบบกรอกทีละคำถาม ดาวน์โหลด DOCX/PDF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1576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 txBox="1"/>
          <p:nvPr/>
        </p:nvSpPr>
        <p:spPr>
          <a:xfrm>
            <a:off x="457200" y="271576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R-14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26791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นำทางสู่ศาล: ศาลที่มีอำนาจ ค่าธรรมเนียม อายุความ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08152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 txBox="1"/>
          <p:nvPr/>
        </p:nvSpPr>
        <p:spPr>
          <a:xfrm>
            <a:off x="457200" y="30815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R-15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078992" y="30449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สมุดคดีส่วนตัว: ไทม์ไลน์ วันนัด การแจ้งเตือน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4728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 txBox="1"/>
          <p:nvPr/>
        </p:nvSpPr>
        <p:spPr>
          <a:xfrm>
            <a:off x="457200" y="34472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R-18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078992" y="34107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 AI โควตา ต้นทุน และสถิติคำถาม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เฟส 3 · อาจมี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46320" y="161848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 txBox="1"/>
          <p:nvPr/>
        </p:nvSpPr>
        <p:spPr>
          <a:xfrm>
            <a:off x="4846320" y="16184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R-19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468112" y="1581912"/>
            <a:ext cx="3218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ภาษาเพิ่ม 6 ภาษา (ลาว พม่า เวียดนาม จีน ญี่ปุ่น เกาหลี) LINE OA และแอปมือถือแบบ PWA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216712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 txBox="1"/>
          <p:nvPr/>
        </p:nvSpPr>
        <p:spPr>
          <a:xfrm>
            <a:off x="4846320" y="216712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468112" y="213055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รายชื่อทนายที่สมัครใจเข้าร่วม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697480"/>
            <a:ext cx="3840480" cy="141732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 txBox="1"/>
          <p:nvPr/>
        </p:nvSpPr>
        <p:spPr>
          <a:xfrm>
            <a:off x="5029200" y="2788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หมุดหมายหลัก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30906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ม.ค. 2570  </a:t>
            </a:r>
            <a:r>
              <a:rPr lang="en-US" sz="9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เปิดทดลองใช้สาธารณะ (เฟส 1)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33284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 ก.พ. 2570  </a:t>
            </a:r>
            <a:r>
              <a:rPr lang="en-US" sz="9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เครื่องมือลงมือทำครบ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35661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 มี.ค. 2570  </a:t>
            </a:r>
            <a:r>
              <a:rPr lang="en-US" sz="9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รุ่น 1.1 สมุดคดี แนบไฟล์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38039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ไตรมาส 2 ปี 2570  </a:t>
            </a:r>
            <a:r>
              <a:rPr lang="en-US" sz="9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เริ่มเฟส 3</a:t>
            </a:r>
            <a:endParaRPr lang="en-US" sz="900" dirty="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1CAF8B4C-4E90-28B3-1885-A38381973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3</a:t>
            </a:fld>
            <a:endParaRPr lang="en-T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เส้นทางผู้ใช้หลัก (J1)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จากเล่าปัญหา สู่สิ่งที่ทำต่อได้จริง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60120" y="132588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9601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1554480"/>
            <a:ext cx="114300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45720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เล่าปัญหา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ด้วยภาษาของตัวเอง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46304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 txBox="1"/>
          <p:nvPr/>
        </p:nvSpPr>
        <p:spPr>
          <a:xfrm>
            <a:off x="530352" y="30632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“ส่งงานช้า โดนหักค่าปรับ 3 แสน”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132588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 txBox="1"/>
          <p:nvPr/>
        </p:nvSpPr>
        <p:spPr>
          <a:xfrm>
            <a:off x="26517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154680" y="1554480"/>
            <a:ext cx="114300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 txBox="1"/>
          <p:nvPr/>
        </p:nvSpPr>
        <p:spPr>
          <a:xfrm>
            <a:off x="214884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ตรวจเหตุเร่งด่วน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แสดงสายด่วน หรือเตือนอายุความ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148840" y="3063240"/>
            <a:ext cx="146304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 txBox="1"/>
          <p:nvPr/>
        </p:nvSpPr>
        <p:spPr>
          <a:xfrm>
            <a:off x="2221992" y="30632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ใกล้ครบ 1 ปีฟ้องเรื่องชำรุดบกพร่อง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43400" y="132588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 txBox="1"/>
          <p:nvPr/>
        </p:nvSpPr>
        <p:spPr>
          <a:xfrm>
            <a:off x="43434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554480"/>
            <a:ext cx="114300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 txBox="1"/>
          <p:nvPr/>
        </p:nvSpPr>
        <p:spPr>
          <a:xfrm>
            <a:off x="384048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ถามกลับ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84048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ไม่เกิน 3 ข้อ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0" y="3063240"/>
            <a:ext cx="146304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 txBox="1"/>
          <p:nvPr/>
        </p:nvSpPr>
        <p:spPr>
          <a:xfrm>
            <a:off x="3913632" y="30632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รับมอบงานโดยสงวนสิทธิหรือไม่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32588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 txBox="1"/>
          <p:nvPr/>
        </p:nvSpPr>
        <p:spPr>
          <a:xfrm>
            <a:off x="6035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537960" y="1554480"/>
            <a:ext cx="1143000" cy="0"/>
          </a:xfrm>
          <a:prstGeom prst="line">
            <a:avLst/>
          </a:prstGeom>
          <a:noFill/>
          <a:ln w="15875">
            <a:solidFill>
              <a:srgbClr val="1F3864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 txBox="1"/>
          <p:nvPr/>
        </p:nvSpPr>
        <p:spPr>
          <a:xfrm>
            <a:off x="553212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คำตอบพร้อมอ้างอิง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 สิทธิ ขั้นตอน เอกสาร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32120" y="3063240"/>
            <a:ext cx="146304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 txBox="1"/>
          <p:nvPr/>
        </p:nvSpPr>
        <p:spPr>
          <a:xfrm>
            <a:off x="5605272" y="30632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ป.พ.พ. ม.381, 383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726680" y="132588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 txBox="1"/>
          <p:nvPr/>
        </p:nvSpPr>
        <p:spPr>
          <a:xfrm>
            <a:off x="77266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1920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ลงมือทำ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 · เครื่องมือศาล · หน่วยงาน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23760" y="3063240"/>
            <a:ext cx="1463040" cy="868680"/>
          </a:xfrm>
          <a:prstGeom prst="rect">
            <a:avLst/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 txBox="1"/>
          <p:nvPr/>
        </p:nvSpPr>
        <p:spPr>
          <a:xfrm>
            <a:off x="7296912" y="3063240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ส่งหนังสือบอกกล่าว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แถวล่าง: ตัวอย่างจากกรณีสัญญาทางการค้า</a:t>
            </a:r>
            <a:endParaRPr lang="en-US" sz="950" dirty="0"/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CBD6C034-4779-ECED-5E18-C64DE7262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4</a:t>
            </a:fld>
            <a:endParaRPr lang="en-T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กรณีตัวอย่างที่ใช้ในหน้าจอ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สัญญาทางการค้าและการผิดสัญญา (Breach of Contract)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030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18872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คุณวิทย์, 42 </a:t>
            </a:r>
            <a:r>
              <a:rPr lang="en-US" sz="11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เจ้าของบริษัทรับเหมาตกแต่งภายใน (SME) เซ็นสัญญาที่เสียเปรียบตั้งแต่ต้น หรือสัญญาไม่รัดกุมพอ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 txBox="1"/>
          <p:nvPr/>
        </p:nvSpPr>
        <p:spPr>
          <a:xfrm>
            <a:off x="64008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ค่าปรับส่งงานล่าช้าแสนโหด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8986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ส่งงานตกแต่งร้านช้า 15 วัน ลูกค้าหักค่าปรับวันละ 20,000 บาท รวม 300,000 บาท (25% ของค่าจ้าง 1.2 ล้าน)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เบี้ยปรับสูงเกินส่วน ศาลลดได้ (ม.383) · การสงวนสิทธิตอนรับมอบงาน (ม.381)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64408" y="182880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Text 11"/>
          <p:cNvSpPr txBox="1"/>
          <p:nvPr/>
        </p:nvSpPr>
        <p:spPr>
          <a:xfrm>
            <a:off x="3447288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447288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ซัพพลายเออร์ส่งของไม่ได้มาตรฐาน แต่เลิกสัญญาไม่ได้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447288" y="28986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กระเบื้องสีเพี้ยน แตกร้าว 3 ล็อต สัญญาซื้อ 12 เดือนไม่มีข้อให้เลิกสัญญา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3447288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ความชำรุดบกพร่อง (ม.472) อายุความ 1 ปี (ม.474) · บอกกล่าวแล้วเลิกสัญญาได้ (ม.387)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71616" y="1828800"/>
            <a:ext cx="2606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6"/>
          <p:cNvSpPr txBox="1"/>
          <p:nvPr/>
        </p:nvSpPr>
        <p:spPr>
          <a:xfrm>
            <a:off x="6254496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254496" y="2377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ถูกเลิกสัญญากะทันหัน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254496" y="28986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ลูกค้าบอกเลิกสัญญาจ้างกลางงานที่ทำไปแล้ว 60% และไม่จ่ายงวดที่ค้าง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254496" y="3611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ผู้ว่าจ้างเลิกได้แต่ต้องชดใช้ (ม.605) · ผลของการเลิกสัญญา (ม.391)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กรณีสมมติเพื่อสาธิตระบบ · มาตราอ้างอิงจากประมวลกฎหมายแพ่งและพาณิชย์ ควรให้นักกฎหมายผู้ตรวจยืนยันก่อนใช้จริง</a:t>
            </a:r>
            <a:endParaRPr lang="en-US" sz="850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BD7CAA3-334D-9717-81F8-606DB1D6A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5</a:t>
            </a:fld>
            <a:endParaRPr lang="en-TH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1 / 11 · index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หน้าแรก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616952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7616952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R-03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เริ่มถามได้ทันทีโดยไม่ต้องสมัคร มีคำถามตัวอย่างและหมวดยอดนิยม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20240" y="1399032"/>
            <a:ext cx="530352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1" name="Image 0" descr="หน้าจอ หน้าแรก (index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417320"/>
            <a:ext cx="5266944" cy="329184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51D4DDA-6F10-8B74-0312-56062E780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6</a:t>
            </a:fld>
            <a:endParaRPr lang="en-T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2 / 11 · login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เข้าสู่ระบบและสมัครสมาชิก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616952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7616952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R-02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สมัครสมาชิก ให้ความยินยอม PDPA แยกตามวัตถุประสงค์ และย้ายประวัติแชทเข้าบัญชี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20240" y="1399032"/>
            <a:ext cx="530352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1" name="Image 0" descr="หน้าจอ เข้าสู่ระบบและสมัครสมาชิก (login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417320"/>
            <a:ext cx="5266944" cy="329184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7328505-AAEA-D200-3FD6-53C6E2EAE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7</a:t>
            </a:fld>
            <a:endParaRPr lang="en-TH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3 / 11 · chat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แชทถาม-ตอบกับ AI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050024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7050024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616952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7616952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R-07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เล่าปัญหาด้วยภาษาตัวเอง AI ถามกลับเมื่อข้อมูลไม่พอ จัดการประวัติแชทได้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20240" y="1399032"/>
            <a:ext cx="530352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3" name="Image 0" descr="หน้าจอ แชทถาม-ตอบกับ AI (chat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417320"/>
            <a:ext cx="5266944" cy="329184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D71D9A-6998-8FA1-FE98-4500A081A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8</a:t>
            </a:fld>
            <a:endParaRPr lang="en-T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4 / 11 · chat-answer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คำตอบพร้อมอ้างอิงตัวบท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050024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7050024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616952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7616952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R-08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คำตอบตามโครง สรุป · สิทธิ · ขั้นตอน · เอกสาร · ระยะเวลา · เมื่อไรควรหาทนาย พร้อมอ้างอิงที่คลิกได้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920240" y="1399032"/>
            <a:ext cx="530352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3" name="Image 0" descr="หน้าจอ คำตอบพร้อมอ้างอิงตัวบท (chat-answer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417320"/>
            <a:ext cx="5266944" cy="329184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151C1A3-6F26-C492-BC32-FB0FD3EAF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9</a:t>
            </a:fld>
            <a:endParaRPr lang="en-TH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5 / 11 · mobile-safety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แจ้งเตือนใกล้หมดอายุความบนมือถือ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ตรวจจับเรื่องที่ใกล้หมดอายุความ แสดงแถบเตือนเด่นชัดพร้อมปุ่มตั้งเตือน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93157" y="1399032"/>
            <a:ext cx="1557687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9" name="Image 0" descr="หน้าจอ แจ้งเตือนใกล้หมดอายุความบนมือถือ (mobile-safety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445" y="1417320"/>
            <a:ext cx="1521111" cy="329184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3AD0AA5-AA70-C239-22E9-702909636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10</a:t>
            </a:fld>
            <a:endParaRPr lang="en-TH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6 / 11 · law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ตัวบทกฎหมาย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616952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7616952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R-10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ตัวบทต้นฉบับแยกตามวันที่มีผลบังคับ พร้อมคำอธิบายภาษาง่าย ค้นหาด้วยเลขมาตราได้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20240" y="1399032"/>
            <a:ext cx="530352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1" name="Image 0" descr="หน้าจอ ตัวบทกฎหมาย (law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417320"/>
            <a:ext cx="5266944" cy="329184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B40B62-1494-D626-FA57-F33AAB8A6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11</a:t>
            </a:fld>
            <a:endParaRPr lang="en-T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7 / 11 · library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คลังความรู้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R-10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บทความ 3 ระดับ 18 หมวด อภิธานศัพท์ ผ่านนักกฎหมายตรวจ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1399032"/>
            <a:ext cx="530352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9" name="Image 0" descr="หน้าจอ คลังความรู้ (library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417320"/>
            <a:ext cx="5266944" cy="329184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723075-4B03-A3B5-56C6-79D7A3499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12</a:t>
            </a:fld>
            <a:endParaRPr lang="en-TH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8 / 11 · learn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หลักสูตรเรียนจาก 0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บทเรียนละ 5 นาที แบบทดสอบ และติดตามความก้าวหน้า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1399032"/>
            <a:ext cx="530352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9" name="Image 0" descr="หน้าจอ หลักสูตรเรียนจาก 0 (learn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417320"/>
            <a:ext cx="5266944" cy="329184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E7724-6FD7-F84F-4437-1D51C07AF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13</a:t>
            </a:fld>
            <a:endParaRPr lang="en-TH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9 / 11 · guide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คู่มือทำทีละขั้น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R-12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Checklist เอกสาร สถานที่ ค่าธรรมเนียม และฐานกฎหมาย บันทึกความคืบหน้าได้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1399032"/>
            <a:ext cx="530352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9" name="Image 0" descr="หน้าจอ คู่มือทำทีละขั้น (guide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417320"/>
            <a:ext cx="5266944" cy="329184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FACB1FC-F6B0-2E63-71ED-C914E91D4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14</a:t>
            </a:fld>
            <a:endParaRPr lang="en-TH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10 / 11 · court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นำทางสู่ศาล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ตอบคำถาม 5 ขั้น ได้ศาลที่น่าจะมีอำนาจ ค่าธรรมเนียมโดยประมาณ และวันครบอายุความ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1399032"/>
            <a:ext cx="530352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9" name="Image 0" descr="หน้าจอ นำทางสู่ศาล (court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417320"/>
            <a:ext cx="5266944" cy="329184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BA5E676-10D5-6C3B-8F93-7C2362BE6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15</a:t>
            </a:fld>
            <a:endParaRPr lang="en-TH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หน้าจอ 11 / 11 · admin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ระบบหลังบ้าน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616952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 txBox="1"/>
          <p:nvPr/>
        </p:nvSpPr>
        <p:spPr>
          <a:xfrm>
            <a:off x="7616952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183880" y="64008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 txBox="1"/>
          <p:nvPr/>
        </p:nvSpPr>
        <p:spPr>
          <a:xfrm>
            <a:off x="8183880" y="640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R-18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ตรวจ อนุมัติเนื้อหา นำเข้าตัวบท คิว feedback และจัดการผู้ใช้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920240" y="1399032"/>
            <a:ext cx="530352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pic>
        <p:nvPicPr>
          <p:cNvPr id="11" name="Image 0" descr="หน้าจอ ระบบหลังบ้าน (admin.html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528" y="1417320"/>
            <a:ext cx="5266944" cy="329184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199ED3-8858-89CF-373D-5D0AEA5DF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16</a:t>
            </a:fld>
            <a:endParaRPr lang="en-TH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64A042-9D28-3BEA-CAD2-62FBCD3CA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ctr"/>
            <a:fld id="{A9D18BDB-6B7A-F341-9772-AC8FC6C78383}" type="slidenum">
              <a:rPr lang="en-TH" smtClean="0"/>
              <a:pPr algn="ctr"/>
              <a:t>17</a:t>
            </a:fld>
            <a:endParaRPr lang="en-TH"/>
          </a:p>
        </p:txBody>
      </p:sp>
      <p:sp>
        <p:nvSpPr>
          <p:cNvPr id="3" name="Shape 154">
            <a:extLst>
              <a:ext uri="{FF2B5EF4-FFF2-40B4-BE49-F238E27FC236}">
                <a16:creationId xmlns:a16="http://schemas.microsoft.com/office/drawing/2014/main" id="{568DA081-34E7-3934-7D14-E107F7F2FBA0}"/>
              </a:ext>
            </a:extLst>
          </p:cNvPr>
          <p:cNvSpPr txBox="1">
            <a:spLocks/>
          </p:cNvSpPr>
          <p:nvPr/>
        </p:nvSpPr>
        <p:spPr>
          <a:xfrm>
            <a:off x="351631" y="1875244"/>
            <a:ext cx="4037489" cy="1393011"/>
          </a:xfrm>
          <a:prstGeom prst="rect">
            <a:avLst/>
          </a:prstGeom>
        </p:spPr>
        <p:txBody>
          <a:bodyPr anchor="ctr"/>
          <a:lstStyle>
            <a:lvl1pPr algn="ctr" defTabSz="467359" rtl="0" eaLnBrk="1" latinLnBrk="0" hangingPunct="1">
              <a:spcBef>
                <a:spcPct val="0"/>
              </a:spcBef>
              <a:buNone/>
              <a:defRPr sz="6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372988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2626</Words>
  <Application>Microsoft Macintosh PowerPoint</Application>
  <PresentationFormat>On-screen Show (16:9)</PresentationFormat>
  <Paragraphs>223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Tahoma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นิติมิตร — ฟีเจอร์และหน้าจอต้นแบบ</dc:title>
  <dc:subject>PptxGenJS Presentation</dc:subject>
  <dc:creator>PptxGenJS</dc:creator>
  <cp:lastModifiedBy>Tiptara Seeluang</cp:lastModifiedBy>
  <cp:revision>3</cp:revision>
  <dcterms:created xsi:type="dcterms:W3CDTF">2026-09-29T01:38:42Z</dcterms:created>
  <dcterms:modified xsi:type="dcterms:W3CDTF">2026-09-29T02:14:36Z</dcterms:modified>
</cp:coreProperties>
</file>