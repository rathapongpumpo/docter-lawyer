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52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90"/>
    <p:sldId id="267" r:id="rId14"/>
    <p:sldId id="268" r:id="rId15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6"/>
    <p:restoredTop sz="94575"/>
  </p:normalViewPr>
  <p:slideViewPr>
    <p:cSldViewPr snapToGrid="0" snapToObjects="1">
      <p:cViewPr>
        <p:scale>
          <a:sx n="112" d="100"/>
          <a:sy n="112" d="100"/>
        </p:scale>
        <p:origin x="43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9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52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สรุปสั้น ๆ ของระบบนิติมิตรจากระบบทดสอบ ณ 2 ต.ค. 2569 เนื้อหากฎหมายทั้งหมดยังเป็นฉบับร่าง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ระบบช่วยธุรกิจ SME ที่ไม่มีฝ่ายกฎหมายเข้าใจสัญญาทางการค้า ขอบเขตเฟสแรกคือสัญญาและการผิดสัญญา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ถาม ได้คำตอบพร้อมอ้างอิง อ่านต่อ ทำแบบหนังสือ และสำหรับองค์กร อัปโหลดสัญญาเพื่อดูผลรายข้อ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คำถามตัวอย่างเรื่องค่าปรับส่งงานล่าช้า คำตอบมาจากคลังความรู้ พร้อมอ้างอิงมาตราและบทความ ณ วันที่ 2 ต.ค. 2569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คำถามเรื่องถูกขู่ทำร้ายแสดงกรอบเตือนสีแดงก่อนคำตอบ ยังไม่มีเบอร์โทรช่วยเหลือเพราะยังไม่มีข้อมูลหน่วยงานที่ตรวจยืนยัน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คลังความรู้ 43 ชิ้น (บทความ ตัวบท คู่มือ แบบหนังสือ ศัพท์) ทั้งหมดเป็นฉบับร่าง รอผู้ตรวจที่เป็นนักกฎหมาย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เป็นโครงหนังสือทั่วไป ไม่ใช่คำฟ้องหรือเอกสารยื่นศาล ข้อมูลในภาพเป็นข้อมูลสมมติ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ข้อมูลแยกตามองค์กร ไฟล์สัญญาสแกนไวรัสและเข้ารหัสก่อนเก็บ PDF/DOCX ไม่เกิน 20 MB ชื่อองค์กรในภาพเป็นข้อมูลสมมติ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ผลมาจากบริการฐานความรู้ของบริษัท PromptNow ถามทีละข้อ ข้อความถูกปกปิดข้อมูลส่วนบุคคลก่อนส่ง ไม่มีอ้างอิงและไม่มีระดับความเสี่ยง สัญญาในภาพเป็นไฟล์ตัวอย่าง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ผู้ดูแลระบบเห็น 13 เมนู บรรณาธิการและผู้ตรวจเห็นเฉพาะเมนูของบทบาท ตอนนี้ยังไม่มีเนื้อหาชิ้นใดผ่านผู้ตรวจ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บทบาทในระบบและในองค์กร ทีมงานต้องให้ผู้ดูแลระบบตั้งสิทธิ์ให้ก่อน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สถานะ ณ 2 ต.ค. 2569 ตัวบทและบทความทั้งหมดยังไม่ผ่านผู้ตรวจ ผลตรวจสัญญาไม่มีอ้างอิงมาตรา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เฉพาะรายการที่เขียนเป็นแผนในเอกสารโครงการ pilot เริ่ม 12 ม.ค. 2570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ขอบคุณครับ/ค่ะ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ทุกข้อในหน้านี้ตรวจสอบได้จากระบบจริง ยังไม่ได้ทดสอบเจาะระบบโดยบุคคลที่สาม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42DE4E-E509-DB02-F341-995D2EF47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N.ai" descr="PN.ai">
            <a:extLst>
              <a:ext uri="{FF2B5EF4-FFF2-40B4-BE49-F238E27FC236}">
                <a16:creationId xmlns:a16="http://schemas.microsoft.com/office/drawing/2014/main" id="{C6B31350-FCE5-71E8-99D2-E88A478B1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36640" t="29915" r="36613" b="33110"/>
          <a:stretch>
            <a:fillRect/>
          </a:stretch>
        </p:blipFill>
        <p:spPr>
          <a:xfrm>
            <a:off x="170775" y="0"/>
            <a:ext cx="8973225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650A696-0957-7C3B-26B3-34342DF84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153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N.ai" descr="PN.ai">
            <a:extLst>
              <a:ext uri="{FF2B5EF4-FFF2-40B4-BE49-F238E27FC236}">
                <a16:creationId xmlns:a16="http://schemas.microsoft.com/office/drawing/2014/main" id="{C6B31350-FCE5-71E8-99D2-E88A478B1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36640" t="29915" r="36613" b="33110"/>
          <a:stretch>
            <a:fillRect/>
          </a:stretch>
        </p:blipFill>
        <p:spPr>
          <a:xfrm>
            <a:off x="170775" y="0"/>
            <a:ext cx="8973225" cy="5143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1F80D99-3DDB-E515-F7BA-B7B22CCDA353}"/>
              </a:ext>
            </a:extLst>
          </p:cNvPr>
          <p:cNvGrpSpPr/>
          <p:nvPr userDrawn="1"/>
        </p:nvGrpSpPr>
        <p:grpSpPr>
          <a:xfrm>
            <a:off x="404705" y="4006351"/>
            <a:ext cx="8334590" cy="732695"/>
            <a:chOff x="-105603" y="3869191"/>
            <a:chExt cx="8334590" cy="732695"/>
          </a:xfrm>
        </p:grpSpPr>
        <p:pic>
          <p:nvPicPr>
            <p:cNvPr id="3" name="letspay Logo.ai" descr="letspay Logo.ai">
              <a:extLst>
                <a:ext uri="{FF2B5EF4-FFF2-40B4-BE49-F238E27FC236}">
                  <a16:creationId xmlns:a16="http://schemas.microsoft.com/office/drawing/2014/main" id="{C5DCB498-CFAF-96F1-FABC-54581698E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997041" y="4166850"/>
              <a:ext cx="1121898" cy="32255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Raijin.ai" descr="Raijin.ai">
              <a:extLst>
                <a:ext uri="{FF2B5EF4-FFF2-40B4-BE49-F238E27FC236}">
                  <a16:creationId xmlns:a16="http://schemas.microsoft.com/office/drawing/2014/main" id="{A7AFFF19-BCCE-4482-B538-816428753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224354" y="4166850"/>
              <a:ext cx="1152626" cy="349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Susanoo-X Logo.ai" descr="Susanoo-X Logo.ai">
              <a:extLst>
                <a:ext uri="{FF2B5EF4-FFF2-40B4-BE49-F238E27FC236}">
                  <a16:creationId xmlns:a16="http://schemas.microsoft.com/office/drawing/2014/main" id="{0927B973-A876-8678-CFE7-51C550CE51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05603" y="4056488"/>
              <a:ext cx="877352" cy="445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Fujin.ai" descr="Fujin.ai">
              <a:extLst>
                <a:ext uri="{FF2B5EF4-FFF2-40B4-BE49-F238E27FC236}">
                  <a16:creationId xmlns:a16="http://schemas.microsoft.com/office/drawing/2014/main" id="{F91B78A4-182C-90A2-D7C4-128E23269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4482395" y="4181965"/>
              <a:ext cx="1152626" cy="3933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Zenjin.ai" descr="Zenjin.ai">
              <a:extLst>
                <a:ext uri="{FF2B5EF4-FFF2-40B4-BE49-F238E27FC236}">
                  <a16:creationId xmlns:a16="http://schemas.microsoft.com/office/drawing/2014/main" id="{FBAEE287-3C0F-331F-305A-7393F21374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5740436" y="4252683"/>
              <a:ext cx="1152390" cy="349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PlayDeal Logo.ai" descr="PlayDeal Logo.ai">
              <a:extLst>
                <a:ext uri="{FF2B5EF4-FFF2-40B4-BE49-F238E27FC236}">
                  <a16:creationId xmlns:a16="http://schemas.microsoft.com/office/drawing/2014/main" id="{26376316-AB4D-DABF-657F-A0E45B91C1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6998241" y="4279089"/>
              <a:ext cx="1230746" cy="2794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Susanoo-R Logo.ai" descr="Susanoo-R Logo.ai">
              <a:extLst>
                <a:ext uri="{FF2B5EF4-FFF2-40B4-BE49-F238E27FC236}">
                  <a16:creationId xmlns:a16="http://schemas.microsoft.com/office/drawing/2014/main" id="{5AE5B6FE-52AB-9810-F365-C7533FEBDC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77164" y="3869191"/>
              <a:ext cx="1014462" cy="632500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1125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5899-3DCA-656F-95AD-0727663F8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ECDEE-CC61-FE5F-4BDC-BFA8F3588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209BE-438A-7D27-770A-2540859D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E05A-3D4C-E850-99C0-E911513F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825C6-6423-1669-3442-C18C3340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048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D7AB-7112-FF20-67A8-2F8356B9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5FE4-4B75-3D3F-B105-0D844182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B0EB7-C92C-F724-FBC4-2B338EAD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D12DA-D250-FF22-EB19-4AF9AFA8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AD10-01CE-68D3-4DBA-66901B09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2217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EA60-97B1-FD50-D51A-A2E8347F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BD1E4-85C0-ACDE-0340-136455E2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19EC-9750-98F9-3F5C-1A98F9F3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D61C4-3356-F9A1-629F-C133EF45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74E9-63F5-7F97-58EA-2CABE4F1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6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5C2D-A554-205A-8F08-66F72B04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A8EEC-5B30-0893-6013-28EDD4B65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AD6E-BFA9-561A-502D-3E92D9BE8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13A41-8921-02D3-46AE-E9A64E71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33285-0BB4-CF49-A05D-BF0623A3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D7934-848C-2642-3AAB-D7D79A9D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2479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8E71-D98C-B45E-1117-087BF825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BFC9-47F3-36F1-750C-0751C7AE1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162D8-CF42-E9D7-FADF-BA579453C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0C5CF-8BEE-7DE4-8307-C7CB53890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C9A82-D4B2-E5A0-3C2E-B67E8C977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F5F74-8364-5DD1-9D3D-0806BBCD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6BFBB-F2E7-54DD-8B73-0E116672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9B0D-7455-E310-247E-FC40D2A1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0442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9963-22A2-6C04-DA69-8A3668EA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98427-7AAD-89B1-572C-551B4525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69EED-920B-E068-7A72-C615E97D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46E2F-7A18-8465-62C9-7FFD65D9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1327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64707-7EA9-2D2F-73EA-ADA3AEC0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1AE2-D5FD-C247-38FD-9B2624BC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7B25-746D-D73E-072F-16ADAA57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6941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6D9F-A923-C3FF-2CF2-605A3280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BFD9B-A2F4-3093-D4A6-2287E739A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8ECBB-8AAF-BD31-12B1-284392F4D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8DD03-DA6E-E386-EAE7-D173D52A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052F9-BEA8-E906-2472-6B4E59B6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E9B0-934B-34F0-44DF-D6320274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7097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30D0-43D5-2EEF-8811-0658F45C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32043-A1B2-0880-CB59-52D5519E6E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0677A-48E0-FCA6-2DCF-80E39BC0A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DF83B-AC13-DD87-135E-5C88F31D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D303D-FCFE-EE16-3899-768A4E78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82B6F-0303-C3F2-589B-E9CAE138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0919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A099-BD7C-7DC2-E967-FA63C75C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07593-B206-2AD7-DBBE-77130212B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F1E3-BE77-FF6D-33FD-30B9149B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1A3FA-4B55-4DF0-9A3A-F173C84E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C8E3B-45F7-3369-B9AE-9FF3716A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35571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64E052-C448-279B-16CC-661C656ED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E0BDE-56B3-D421-A514-86075E89C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FC055-87B5-01A9-56B0-C6C83883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6715-2B9B-466E-D72C-FA10A9D7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AE75-FBFE-70BF-ED0F-65A14A57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5993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C22CC65F-2464-447B-9E7B-8FAD17EF89E6}"/>
              </a:ext>
            </a:extLst>
          </p:cNvPr>
          <p:cNvSpPr/>
          <p:nvPr userDrawn="1"/>
        </p:nvSpPr>
        <p:spPr>
          <a:xfrm>
            <a:off x="-1" y="0"/>
            <a:ext cx="180000" cy="5148000"/>
          </a:xfrm>
          <a:prstGeom prst="rect">
            <a:avLst/>
          </a:prstGeom>
          <a:solidFill>
            <a:srgbClr val="13BCC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914400">
              <a:defRPr sz="1800">
                <a:solidFill>
                  <a:srgbClr val="FFFFFF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endParaRPr/>
          </a:p>
        </p:txBody>
      </p:sp>
      <p:pic>
        <p:nvPicPr>
          <p:cNvPr id="5" name="image2.png" descr="image2.png">
            <a:extLst>
              <a:ext uri="{FF2B5EF4-FFF2-40B4-BE49-F238E27FC236}">
                <a16:creationId xmlns:a16="http://schemas.microsoft.com/office/drawing/2014/main" id="{96A5B6C9-A2DA-6084-A5F3-E920AAAC019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694426" y="4772630"/>
            <a:ext cx="2185538" cy="1800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Confidential - Do not distribute.…">
            <a:extLst>
              <a:ext uri="{FF2B5EF4-FFF2-40B4-BE49-F238E27FC236}">
                <a16:creationId xmlns:a16="http://schemas.microsoft.com/office/drawing/2014/main" id="{6EE1122B-5731-6879-6038-76322BF2D0AA}"/>
              </a:ext>
            </a:extLst>
          </p:cNvPr>
          <p:cNvSpPr txBox="1"/>
          <p:nvPr userDrawn="1"/>
        </p:nvSpPr>
        <p:spPr>
          <a:xfrm>
            <a:off x="264036" y="4784941"/>
            <a:ext cx="6034349" cy="22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l" defTabSz="584200">
              <a:lnSpc>
                <a:spcPct val="80000"/>
              </a:lnSpc>
              <a:defRPr sz="1400">
                <a:solidFill>
                  <a:srgbClr val="4467AE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Confidential - Do not distribute.</a:t>
            </a:r>
          </a:p>
          <a:p>
            <a:pPr algn="l" defTabSz="584200">
              <a:lnSpc>
                <a:spcPct val="80000"/>
              </a:lnSpc>
              <a:defRPr sz="1400">
                <a:solidFill>
                  <a:srgbClr val="4467AE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©202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PromptNow Co., Ltd.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2BA0CD-7FF4-517B-60BC-FCCC0073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0FE1F-8EB2-26AE-D2DE-B909D44D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35616-C6C9-5ABF-93A3-4E0011B27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7644-292A-F1A9-AC45-A3AC98B22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CBC9B-8B92-F4EB-0CCC-318910D68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8BF9-9E47-5AAD-9BAF-F8FD3804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9209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chat.jpg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urgent.jp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lib_cat.jpg"/><Relationship Id="rIdImg2" Type="http://schemas.openxmlformats.org/officeDocument/2006/relationships/image" Target="../media/shot_law.jp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tpl_list.jpg"/><Relationship Id="rIdImg2" Type="http://schemas.openxmlformats.org/officeDocument/2006/relationships/image" Target="../media/shot_tpl_review.jp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org.jpg"/><Relationship Id="rIdImg2" Type="http://schemas.openxmlformats.org/officeDocument/2006/relationships/image" Target="../media/shot_contract.jp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review.jp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shot_bo_home.jpg"/><Relationship Id="rIdImg2" Type="http://schemas.openxmlformats.org/officeDocument/2006/relationships/image" Target="../media/shot_bo_review.jp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นิติมิตร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ข้อมูลกฎหมายสำหรับองค์กรและบุคคล</a:t>
            </a:r>
            <a:r>
              <a:rPr lang="en-US" sz="1800" dirty="0" err="1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/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รายการฟีเจอร์และหน้าจอจากระบบทดสอบ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ขอบเขตเฟสแรก: สัญญาทางการค้าและการผิดสัญญา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4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 1.0.4 · 2 ต.ค. 2569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6812280" y="1737360"/>
            <a:ext cx="1188720" cy="11887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0345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เข้าใจสัญญา แล้วลงมือทำต่อได้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57200" y="1280160"/>
            <a:ext cx="2606040" cy="21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731520" y="2148840"/>
            <a:ext cx="2103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ถามกฎหมาย</a:t>
            </a:r>
            <a:endParaRPr lang="th-TH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731520" y="2606040"/>
            <a:ext cx="21031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คำตอบจากคลังความรู้ พร้อมอ้างอิง</a:t>
            </a:r>
            <a:endParaRPr lang="th-TH" sz="1500" dirty="0"/>
          </a:p>
        </p:txBody>
      </p:sp>
      <p:sp>
        <p:nvSpPr>
          <p:cNvPr id="18" name="Shape 18"/>
          <p:cNvSpPr/>
          <p:nvPr/>
        </p:nvSpPr>
        <p:spPr>
          <a:xfrm>
            <a:off x="3264408" y="1280160"/>
            <a:ext cx="2606040" cy="21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3538728" y="146304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600200"/>
            <a:ext cx="274320" cy="27432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3538728" y="2148840"/>
            <a:ext cx="2103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คลังความรู้</a:t>
            </a:r>
            <a:endParaRPr lang="th-TH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3538728" y="2606040"/>
            <a:ext cx="21031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บทความ ตัวบท อภิธานศัพท์</a:t>
            </a:r>
            <a:endParaRPr lang="th-TH" sz="1500" dirty="0"/>
          </a:p>
        </p:txBody>
      </p:sp>
      <p:sp>
        <p:nvSpPr>
          <p:cNvPr id="23" name="Shape 23"/>
          <p:cNvSpPr/>
          <p:nvPr/>
        </p:nvSpPr>
        <p:spPr>
          <a:xfrm>
            <a:off x="6071616" y="1280160"/>
            <a:ext cx="2606040" cy="21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6345936" y="146304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600200"/>
            <a:ext cx="274320" cy="274320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6345936" y="2148840"/>
            <a:ext cx="21031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ลงมือทำและองค์กร</a:t>
            </a:r>
            <a:endParaRPr lang="th-TH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6345936" y="2606040"/>
            <a:ext cx="21031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แบบหนังสือ อัปโหลดและตรวจสัญญา</a:t>
            </a:r>
            <a:endParaRPr lang="th-TH" sz="1500" dirty="0"/>
          </a:p>
        </p:txBody>
      </p:sp>
      <p:sp>
        <p:nvSpPr>
          <p:cNvPr id="28" name="Text 28"/>
          <p:cNvSpPr txBox="1"/>
          <p:nvPr/>
        </p:nvSpPr>
        <p:spPr>
          <a:xfrm>
            <a:off x="457200" y="3600000"/>
            <a:ext cx="8229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ปัญหาที่ช่วย  </a:t>
            </a: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ถูกหักค่าปรับส่งงานล่าช้า · ซัพพลายเออร์ส่งของไม่ได้มาตรฐาน · ถูกเลิกสัญญากะทันหัน</a:t>
            </a:r>
            <a:endParaRPr lang="th-TH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408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ข้อมูลกฎหมายทั่วไป ไม่ใช่คำปรึกษาเฉพาะคดี</a:t>
            </a:r>
            <a:endParaRPr lang="th-TH" sz="13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เส้นทางผู้ใช้หลัก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จากเล่าปัญหา สู่สิ่งที่ทำต่อได้จริง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800" b="1" i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th-TH" sz="1800" dirty="0"/>
          </a:p>
        </p:txBody>
      </p:sp>
      <p:cxnSp>
        <p:nvCxnSpPr>
          <p:cNvPr id="15" name="Line 15"/>
          <p:cNvCxnSpPr/>
          <p:nvPr/>
        </p:nvCxnSpPr>
        <p:spPr>
          <a:xfrm>
            <a:off x="1463040" y="1828800"/>
            <a:ext cx="123444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16" name="Text 16"/>
          <p:cNvSpPr txBox="1"/>
          <p:nvPr/>
        </p:nvSpPr>
        <p:spPr>
          <a:xfrm>
            <a:off x="457200" y="2300000"/>
            <a:ext cx="14630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7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เล่าปัญหา</a:t>
            </a:r>
            <a:endParaRPr lang="th-TH" sz="1700" dirty="0"/>
          </a:p>
        </p:txBody>
      </p:sp>
      <p:sp>
        <p:nvSpPr>
          <p:cNvPr id="17" name="Text 17"/>
          <p:cNvSpPr txBox="1"/>
          <p:nvPr/>
        </p:nvSpPr>
        <p:spPr>
          <a:xfrm>
            <a:off x="397200" y="2760000"/>
            <a:ext cx="15830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th-TH" sz="14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ภาษาของตัวเอง</a:t>
            </a:r>
            <a:endParaRPr lang="th-TH" sz="1400" dirty="0"/>
          </a:p>
        </p:txBody>
      </p:sp>
      <p:sp>
        <p:nvSpPr>
          <p:cNvPr id="18" name="Shape 18"/>
          <p:cNvSpPr/>
          <p:nvPr/>
        </p:nvSpPr>
        <p:spPr>
          <a:xfrm>
            <a:off x="265176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2651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800" b="1" i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th-TH" sz="1800" dirty="0"/>
          </a:p>
        </p:txBody>
      </p:sp>
      <p:cxnSp>
        <p:nvCxnSpPr>
          <p:cNvPr id="20" name="Line 20"/>
          <p:cNvCxnSpPr/>
          <p:nvPr/>
        </p:nvCxnSpPr>
        <p:spPr>
          <a:xfrm>
            <a:off x="3154680" y="1828800"/>
            <a:ext cx="123444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2148840" y="2300000"/>
            <a:ext cx="14630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7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ได้คำตอบ</a:t>
            </a:r>
            <a:endParaRPr lang="th-TH" sz="1700" dirty="0"/>
          </a:p>
        </p:txBody>
      </p:sp>
      <p:sp>
        <p:nvSpPr>
          <p:cNvPr id="22" name="Text 22"/>
          <p:cNvSpPr txBox="1"/>
          <p:nvPr/>
        </p:nvSpPr>
        <p:spPr>
          <a:xfrm>
            <a:off x="2088840" y="2760000"/>
            <a:ext cx="15830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th-TH" sz="14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พร้อมอ้างอิงมาตรา</a:t>
            </a:r>
            <a:endParaRPr lang="th-TH" sz="1400" dirty="0"/>
          </a:p>
        </p:txBody>
      </p:sp>
      <p:sp>
        <p:nvSpPr>
          <p:cNvPr id="23" name="Shape 23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4343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800" b="1" i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th-TH" sz="1800" dirty="0"/>
          </a:p>
        </p:txBody>
      </p:sp>
      <p:cxnSp>
        <p:nvCxnSpPr>
          <p:cNvPr id="25" name="Line 25"/>
          <p:cNvCxnSpPr/>
          <p:nvPr/>
        </p:nvCxnSpPr>
        <p:spPr>
          <a:xfrm>
            <a:off x="4846320" y="1828800"/>
            <a:ext cx="123444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26" name="Text 26"/>
          <p:cNvSpPr txBox="1"/>
          <p:nvPr/>
        </p:nvSpPr>
        <p:spPr>
          <a:xfrm>
            <a:off x="3840480" y="2300000"/>
            <a:ext cx="14630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7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อ่านต่อ</a:t>
            </a:r>
            <a:endParaRPr lang="th-TH" sz="1700" dirty="0"/>
          </a:p>
        </p:txBody>
      </p:sp>
      <p:sp>
        <p:nvSpPr>
          <p:cNvPr id="27" name="Text 27"/>
          <p:cNvSpPr txBox="1"/>
          <p:nvPr/>
        </p:nvSpPr>
        <p:spPr>
          <a:xfrm>
            <a:off x="3780480" y="2760000"/>
            <a:ext cx="15830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th-TH" sz="14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ตัวบท บทความ ศัพท์</a:t>
            </a:r>
            <a:endParaRPr lang="th-TH" sz="1400" dirty="0"/>
          </a:p>
        </p:txBody>
      </p:sp>
      <p:sp>
        <p:nvSpPr>
          <p:cNvPr id="28" name="Shape 28"/>
          <p:cNvSpPr/>
          <p:nvPr/>
        </p:nvSpPr>
        <p:spPr>
          <a:xfrm>
            <a:off x="603504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035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800" b="1" i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th-TH" sz="1800" dirty="0"/>
          </a:p>
        </p:txBody>
      </p:sp>
      <p:cxnSp>
        <p:nvCxnSpPr>
          <p:cNvPr id="30" name="Line 30"/>
          <p:cNvCxnSpPr/>
          <p:nvPr/>
        </p:nvCxnSpPr>
        <p:spPr>
          <a:xfrm>
            <a:off x="6537960" y="1828800"/>
            <a:ext cx="123444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31" name="Text 31"/>
          <p:cNvSpPr txBox="1"/>
          <p:nvPr/>
        </p:nvSpPr>
        <p:spPr>
          <a:xfrm>
            <a:off x="5532120" y="2300000"/>
            <a:ext cx="14630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7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ทำหนังสือ</a:t>
            </a:r>
            <a:endParaRPr lang="th-TH" sz="1700" dirty="0"/>
          </a:p>
        </p:txBody>
      </p:sp>
      <p:sp>
        <p:nvSpPr>
          <p:cNvPr id="32" name="Text 32"/>
          <p:cNvSpPr txBox="1"/>
          <p:nvPr/>
        </p:nvSpPr>
        <p:spPr>
          <a:xfrm>
            <a:off x="5472120" y="2760000"/>
            <a:ext cx="15830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th-TH" sz="14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 DOCX/PDF</a:t>
            </a:r>
            <a:endParaRPr lang="th-TH" sz="1400" dirty="0"/>
          </a:p>
        </p:txBody>
      </p:sp>
      <p:sp>
        <p:nvSpPr>
          <p:cNvPr id="33" name="Shape 33"/>
          <p:cNvSpPr/>
          <p:nvPr/>
        </p:nvSpPr>
        <p:spPr>
          <a:xfrm>
            <a:off x="772668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7726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800" b="1" i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th-TH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7223760" y="2300000"/>
            <a:ext cx="14630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th-TH" sz="17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องค์กร</a:t>
            </a:r>
            <a:endParaRPr lang="th-TH" sz="1700" dirty="0"/>
          </a:p>
        </p:txBody>
      </p:sp>
      <p:sp>
        <p:nvSpPr>
          <p:cNvPr id="36" name="Text 36"/>
          <p:cNvSpPr txBox="1"/>
          <p:nvPr/>
        </p:nvSpPr>
        <p:spPr>
          <a:xfrm>
            <a:off x="7163760" y="2760000"/>
            <a:ext cx="15830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th-TH" sz="14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อัปโหลดและตรวจสัญญา</a:t>
            </a:r>
            <a:endParaRPr lang="th-TH" sz="14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M2 · ถามกฎหมาย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คำตอบมีแหล่งอ้างอิงและวันที่ข้อมูล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265441" y="1170432"/>
            <a:ext cx="4439647" cy="31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แชทถามกฎหมาย แสดงแหล่งอ้างอิง วันที่ข้อมูล และคำถามต่อ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283729" y="1188720"/>
            <a:ext cx="4403071" cy="3100000"/>
          </a:xfrm>
          <a:prstGeom prst="rect">
            <a:avLst/>
          </a:prstGeom>
        </p:spPr>
      </p:pic>
      <p:sp>
        <p:nvSpPr>
          <p:cNvPr id="15" name="Bullets 15"/>
          <p:cNvSpPr txBox="1"/>
          <p:nvPr/>
        </p:nvSpPr>
        <p:spPr>
          <a:xfrm>
            <a:off x="457200" y="1248720"/>
            <a:ext cx="335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ตอบจากคลังความรู้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กดแหล่งอ้างอิงเพื่อดูต้นฉบับ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มีขั้นตอนถัดไปและคำถามต่อ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เนื้อหาเป็นฉบับร่าง รอผู้ตรวจ</a:t>
            </a:r>
            <a:endParaRPr lang="th-TH" sz="1600" dirty="0"/>
          </a:p>
        </p:txBody>
      </p:sp>
      <p:sp>
        <p:nvSpPr>
          <p:cNvPr id="16" name="Source 16"/>
          <p:cNvSpPr txBox="1"/>
          <p:nvPr/>
        </p:nvSpPr>
        <p:spPr>
          <a:xfrm>
            <a:off x="4283729" y="4358720"/>
            <a:ext cx="4403071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M2 · เรื่องเร่งด่วน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เรื่องเร่งด่วน มีกรอบเตือนก่อนคำตอบ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3568512" y="1170432"/>
            <a:ext cx="5136576" cy="23798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กรอบเตือนสีแดงเมื่อถามเรื่องถูกขู่ทำร้าย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3586800" y="1188720"/>
            <a:ext cx="5100000" cy="2343243"/>
          </a:xfrm>
          <a:prstGeom prst="rect">
            <a:avLst/>
          </a:prstGeom>
        </p:spPr>
      </p:pic>
      <p:sp>
        <p:nvSpPr>
          <p:cNvPr id="15" name="Bullets 15"/>
          <p:cNvSpPr txBox="1"/>
          <p:nvPr/>
        </p:nvSpPr>
        <p:spPr>
          <a:xfrm>
            <a:off x="457200" y="1248720"/>
            <a:ext cx="2901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 เช่น ถูกขู่ทำร้าย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แสดงกรอบเตือนสีแดงก่อนเนื้อหาคำตอบ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เบอร์ช่วยเหลือจะแสดงเมื่อมีข้อมูลที่ตรวจยืนยันแล้ว (ตอนนี้ยังไม่มี)</a:t>
            </a:r>
            <a:endParaRPr lang="th-TH" sz="1600" dirty="0"/>
          </a:p>
        </p:txBody>
      </p:sp>
      <p:sp>
        <p:nvSpPr>
          <p:cNvPr id="16" name="Source 16"/>
          <p:cNvSpPr txBox="1"/>
          <p:nvPr/>
        </p:nvSpPr>
        <p:spPr>
          <a:xfrm>
            <a:off x="3586800" y="3601963"/>
            <a:ext cx="51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M3 · คลังความรู้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บทความ ตัวบท และอภิธานศัพท์</a:t>
            </a:r>
            <a:endParaRPr lang="th-TH" sz="2200" dirty="0"/>
          </a:p>
        </p:txBody>
      </p:sp>
      <p:sp>
        <p:nvSpPr>
          <p:cNvPr id="13" name="Intro 13"/>
          <p:cNvSpPr txBox="1"/>
          <p:nvPr/>
        </p:nvSpPr>
        <p:spPr>
          <a:xfrm>
            <a:off x="457200" y="1188720"/>
            <a:ext cx="82296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5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หมวด · ตัวบท 76 มาตรา · ศัพท์ 24 คำ</a:t>
            </a:r>
            <a:endParaRPr lang="th-TH" sz="1500" dirty="0"/>
          </a:p>
        </p:txBody>
      </p:sp>
      <p:sp>
        <p:nvSpPr>
          <p:cNvPr id="14" name="Shape 14"/>
          <p:cNvSpPr/>
          <p:nvPr/>
        </p:nvSpPr>
        <p:spPr>
          <a:xfrm>
            <a:off x="438912" y="1610432"/>
            <a:ext cx="3458081" cy="218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5" descr="หมวดหนี้และสัญญา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628720"/>
            <a:ext cx="3421505" cy="2150000"/>
          </a:xfrm>
          <a:prstGeom prst="rect">
            <a:avLst/>
          </a:prstGeom>
        </p:spPr>
      </p:pic>
      <p:sp>
        <p:nvSpPr>
          <p:cNvPr id="16" name="Caption 16"/>
          <p:cNvSpPr txBox="1"/>
          <p:nvPr/>
        </p:nvSpPr>
        <p:spPr>
          <a:xfrm>
            <a:off x="457200" y="3888720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หมวดหนี้และสัญญา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ทุกชิ้นเป็นฉบับร่าง</a:t>
            </a:r>
            <a:endParaRPr lang="th-TH" sz="1300" dirty="0"/>
          </a:p>
        </p:txBody>
      </p:sp>
      <p:sp>
        <p:nvSpPr>
          <p:cNvPr id="17" name="Shape 17"/>
          <p:cNvSpPr/>
          <p:nvPr/>
        </p:nvSpPr>
        <p:spPr>
          <a:xfrm>
            <a:off x="5247007" y="1610432"/>
            <a:ext cx="3458081" cy="218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8" descr="ตัวบทแยกเป็นมาตรา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5265295" y="1628720"/>
            <a:ext cx="3421505" cy="2150000"/>
          </a:xfrm>
          <a:prstGeom prst="rect">
            <a:avLst/>
          </a:prstGeom>
        </p:spPr>
      </p:pic>
      <p:sp>
        <p:nvSpPr>
          <p:cNvPr id="19" name="Caption 19"/>
          <p:cNvSpPr txBox="1"/>
          <p:nvPr/>
        </p:nvSpPr>
        <p:spPr>
          <a:xfrm>
            <a:off x="5265295" y="3888720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ตัวบทแยกเป็นมาตรา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มีแหล่งที่มา วันมีผลยังไม่ยืนยัน</a:t>
            </a:r>
            <a:endParaRPr lang="th-TH" sz="1300" dirty="0"/>
          </a:p>
        </p:txBody>
      </p:sp>
      <p:sp>
        <p:nvSpPr>
          <p:cNvPr id="20" name="Source 20"/>
          <p:cNvSpPr txBox="1"/>
          <p:nvPr/>
        </p:nvSpPr>
        <p:spPr>
          <a:xfrm>
            <a:off x="457200" y="4560000"/>
            <a:ext cx="40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M6 · แบบหนังสือ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แบบหนังสือ กรอกทีละขั้น ได้ DOCX/PDF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38912" y="1170432"/>
            <a:ext cx="4086576" cy="25815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5 แบบหนังสือ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188720"/>
            <a:ext cx="4050000" cy="2544932"/>
          </a:xfrm>
          <a:prstGeom prst="rect">
            <a:avLst/>
          </a:prstGeom>
        </p:spPr>
      </p:pic>
      <p:sp>
        <p:nvSpPr>
          <p:cNvPr id="15" name="Caption 15"/>
          <p:cNvSpPr txBox="1"/>
          <p:nvPr/>
        </p:nvSpPr>
        <p:spPr>
          <a:xfrm>
            <a:off x="457200" y="3843652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แบบหนังสือ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เกี่ยวกับการผิดสัญญา ฉบับร่าง</a:t>
            </a:r>
            <a:endParaRPr lang="th-TH" sz="1300" dirty="0"/>
          </a:p>
        </p:txBody>
      </p:sp>
      <p:sp>
        <p:nvSpPr>
          <p:cNvPr id="16" name="Shape 16"/>
          <p:cNvSpPr/>
          <p:nvPr/>
        </p:nvSpPr>
        <p:spPr>
          <a:xfrm>
            <a:off x="4618512" y="1170432"/>
            <a:ext cx="4086576" cy="25815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7" descr="ตรวจทานก่อนดาวน์โหลด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36800" y="1188720"/>
            <a:ext cx="4050000" cy="2544932"/>
          </a:xfrm>
          <a:prstGeom prst="rect">
            <a:avLst/>
          </a:prstGeom>
        </p:spPr>
      </p:pic>
      <p:sp>
        <p:nvSpPr>
          <p:cNvPr id="18" name="Caption 18"/>
          <p:cNvSpPr txBox="1"/>
          <p:nvPr/>
        </p:nvSpPr>
        <p:spPr>
          <a:xfrm>
            <a:off x="4636800" y="3843652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ตรวจทานก่อนดาวน์โหลด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ข้อมูลที่กรอกอยู่ในเบราว์เซอร์</a:t>
            </a:r>
            <a:endParaRPr lang="th-TH" sz="1300" dirty="0"/>
          </a:p>
        </p:txBody>
      </p:sp>
      <p:sp>
        <p:nvSpPr>
          <p:cNvPr id="19" name="Source 19"/>
          <p:cNvSpPr txBox="1"/>
          <p:nvPr/>
        </p:nvSpPr>
        <p:spPr>
          <a:xfrm>
            <a:off x="457200" y="4560000"/>
            <a:ext cx="40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M11 · M12 · องค์กรและสัญญา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พื้นที่ทำงานองค์กร และอัปโหลดสัญญา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38912" y="1170432"/>
            <a:ext cx="4086576" cy="25653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สมาชิกและตั้งค่า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188720"/>
            <a:ext cx="4050000" cy="2528780"/>
          </a:xfrm>
          <a:prstGeom prst="rect">
            <a:avLst/>
          </a:prstGeom>
        </p:spPr>
      </p:pic>
      <p:sp>
        <p:nvSpPr>
          <p:cNvPr id="15" name="Caption 15"/>
          <p:cNvSpPr txBox="1"/>
          <p:nvPr/>
        </p:nvSpPr>
        <p:spPr>
          <a:xfrm>
            <a:off x="457200" y="3827500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สมาชิกและตั้งค่า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 ผู้ดูแล สมาชิก ที่ปรึกษา</a:t>
            </a:r>
            <a:endParaRPr lang="th-TH" sz="1300" dirty="0"/>
          </a:p>
        </p:txBody>
      </p:sp>
      <p:sp>
        <p:nvSpPr>
          <p:cNvPr id="16" name="Shape 16"/>
          <p:cNvSpPr/>
          <p:nvPr/>
        </p:nvSpPr>
        <p:spPr>
          <a:xfrm>
            <a:off x="4618513" y="1170432"/>
            <a:ext cx="4086575" cy="23290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7" descr="อัปโหลดสัญญา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36801" y="1188720"/>
            <a:ext cx="4049999" cy="2292452"/>
          </a:xfrm>
          <a:prstGeom prst="rect">
            <a:avLst/>
          </a:prstGeom>
        </p:spPr>
      </p:pic>
      <p:sp>
        <p:nvSpPr>
          <p:cNvPr id="18" name="Caption 18"/>
          <p:cNvSpPr txBox="1"/>
          <p:nvPr/>
        </p:nvSpPr>
        <p:spPr>
          <a:xfrm>
            <a:off x="4636801" y="3827500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อัปโหลดสัญญา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แยกเป็นข้อ ให้เทียบต้นฉบับ</a:t>
            </a:r>
            <a:endParaRPr lang="th-TH" sz="1300" dirty="0"/>
          </a:p>
        </p:txBody>
      </p:sp>
      <p:sp>
        <p:nvSpPr>
          <p:cNvPr id="19" name="Source 19"/>
          <p:cNvSpPr txBox="1"/>
          <p:nvPr/>
        </p:nvSpPr>
        <p:spPr>
          <a:xfrm>
            <a:off x="457200" y="4560000"/>
            <a:ext cx="40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M12 · ตรวจสัญญา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ผลตรวจรายข้อ จากฐานความรู้ของบริษัท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3968512" y="1170432"/>
            <a:ext cx="4736576" cy="307938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ผลตรวจสัญญารายข้อ ความเสี่ยงและวิธีแก้ไข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3986800" y="1188720"/>
            <a:ext cx="4700000" cy="3042806"/>
          </a:xfrm>
          <a:prstGeom prst="rect">
            <a:avLst/>
          </a:prstGeom>
        </p:spPr>
      </p:pic>
      <p:sp>
        <p:nvSpPr>
          <p:cNvPr id="15" name="Bullets 15"/>
          <p:cNvSpPr txBox="1"/>
          <p:nvPr/>
        </p:nvSpPr>
        <p:spPr>
          <a:xfrm>
            <a:off x="457200" y="1248720"/>
            <a:ext cx="3301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ถามทีละข้อ (สูงสุด 30 ข้อแรก)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ผลเป็นข้อความ: ความเสี่ยง วิธีแก้ไข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ไม่มีอ้างอิงมาตรา ไม่มีระดับความเสี่ยง</a:t>
            </a:r>
            <a:endParaRPr lang="th-TH" sz="1600" dirty="0"/>
          </a:p>
          <a:p>
            <a:pPr marL="228600" indent="-228600" algn="l">
              <a:spcAft>
                <a:spcPts val="9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6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ควรให้ทนายตรวจก่อนลงนาม</a:t>
            </a:r>
            <a:endParaRPr lang="th-TH" sz="1600" dirty="0"/>
          </a:p>
        </p:txBody>
      </p:sp>
      <p:sp>
        <p:nvSpPr>
          <p:cNvPr id="16" name="Source 16"/>
          <p:cNvSpPr txBox="1"/>
          <p:nvPr/>
        </p:nvSpPr>
        <p:spPr>
          <a:xfrm>
            <a:off x="3986800" y="4301526"/>
            <a:ext cx="47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M10 · หลังบ้าน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หลังบ้านสำหรับทีมงาน และเนื้อหาต้องผ่านผู้ตรวจ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38912" y="1170432"/>
            <a:ext cx="4086576" cy="202187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 descr="13 เมนูตามบทบาท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188720"/>
            <a:ext cx="4050000" cy="1985294"/>
          </a:xfrm>
          <a:prstGeom prst="rect">
            <a:avLst/>
          </a:prstGeom>
        </p:spPr>
      </p:pic>
      <p:sp>
        <p:nvSpPr>
          <p:cNvPr id="15" name="Caption 15"/>
          <p:cNvSpPr txBox="1"/>
          <p:nvPr/>
        </p:nvSpPr>
        <p:spPr>
          <a:xfrm>
            <a:off x="457200" y="3377961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เมนูตามบทบาท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แก้เนื้อหา นำเข้าตัวบท ผู้ใช้ สวิตช์ฉุกเฉิน</a:t>
            </a:r>
            <a:endParaRPr lang="th-TH" sz="1300" dirty="0"/>
          </a:p>
        </p:txBody>
      </p:sp>
      <p:sp>
        <p:nvSpPr>
          <p:cNvPr id="16" name="Shape 16"/>
          <p:cNvSpPr/>
          <p:nvPr/>
        </p:nvSpPr>
        <p:spPr>
          <a:xfrm>
            <a:off x="4618512" y="1170432"/>
            <a:ext cx="4086576" cy="211581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7" descr="ผู้ตรวจติ๊กรายการ 9 ข้อ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36800" y="1188720"/>
            <a:ext cx="4050000" cy="2079241"/>
          </a:xfrm>
          <a:prstGeom prst="rect">
            <a:avLst/>
          </a:prstGeom>
        </p:spPr>
      </p:pic>
      <p:sp>
        <p:nvSpPr>
          <p:cNvPr id="18" name="Caption 18"/>
          <p:cNvSpPr txBox="1"/>
          <p:nvPr/>
        </p:nvSpPr>
        <p:spPr>
          <a:xfrm>
            <a:off x="4636800" y="3377961"/>
            <a:ext cx="4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th-TH" sz="15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ผู้ตรวจติ๊กรายการ 9 ข้อ</a:t>
            </a:r>
            <a:endParaRPr lang="th-TH" sz="1500" dirty="0"/>
          </a:p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ก่อนอนุมัติ ระบบไม่เผยแพร่เอง</a:t>
            </a:r>
            <a:endParaRPr lang="th-TH" sz="1300" dirty="0"/>
          </a:p>
        </p:txBody>
      </p:sp>
      <p:sp>
        <p:nvSpPr>
          <p:cNvPr id="19" name="Source 19"/>
          <p:cNvSpPr txBox="1"/>
          <p:nvPr/>
        </p:nvSpPr>
        <p:spPr>
          <a:xfrm>
            <a:off x="457200" y="4560000"/>
            <a:ext cx="40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800" b="0" i="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ภาพหน้าจอจากระบบทดสอบ 2 ต.ค. 2569</a:t>
            </a:r>
            <a:endParaRPr lang="th-TH" sz="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บทบาทและสิทธิ์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ใครทำอะไรได้บ้าง</a:t>
            </a:r>
            <a:endParaRPr lang="th-TH" sz="22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1150000"/>
            <a:ext cx="40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7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ในระบบ</a:t>
            </a:r>
            <a:endParaRPr lang="th-TH" sz="1700" dirty="0"/>
          </a:p>
        </p:txBody>
      </p:sp>
      <p:sp>
        <p:nvSpPr>
          <p:cNvPr id="14" name="Shape 14"/>
          <p:cNvSpPr/>
          <p:nvPr/>
        </p:nvSpPr>
        <p:spPr>
          <a:xfrm>
            <a:off x="457200" y="1550000"/>
            <a:ext cx="4000000" cy="49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548640" y="1550000"/>
            <a:ext cx="150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ผู้ทดลองใช้</a:t>
            </a:r>
            <a:endParaRPr lang="th-TH" sz="1400" dirty="0"/>
          </a:p>
        </p:txBody>
      </p:sp>
      <p:sp>
        <p:nvSpPr>
          <p:cNvPr id="16" name="Text 16"/>
          <p:cNvSpPr txBox="1"/>
          <p:nvPr/>
        </p:nvSpPr>
        <p:spPr>
          <a:xfrm>
            <a:off x="2057200" y="1550000"/>
            <a:ext cx="232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ถามและอ่าน 10 ข้อความต่อวัน</a:t>
            </a:r>
            <a:endParaRPr lang="th-TH" sz="1300" dirty="0"/>
          </a:p>
        </p:txBody>
      </p:sp>
      <p:sp>
        <p:nvSpPr>
          <p:cNvPr id="17" name="Shape 17"/>
          <p:cNvSpPr/>
          <p:nvPr/>
        </p:nvSpPr>
        <p:spPr>
          <a:xfrm>
            <a:off x="457200" y="2110000"/>
            <a:ext cx="4000000" cy="49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548640" y="2110000"/>
            <a:ext cx="150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สมาชิก</a:t>
            </a:r>
            <a:endParaRPr lang="th-TH" sz="1400" dirty="0"/>
          </a:p>
        </p:txBody>
      </p:sp>
      <p:sp>
        <p:nvSpPr>
          <p:cNvPr id="19" name="Text 19"/>
          <p:cNvSpPr txBox="1"/>
          <p:nvPr/>
        </p:nvSpPr>
        <p:spPr>
          <a:xfrm>
            <a:off x="2057200" y="2110000"/>
            <a:ext cx="232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เก็บคำตอบ ตั้งค่าบัญชี</a:t>
            </a:r>
            <a:endParaRPr lang="th-TH" sz="1300" dirty="0"/>
          </a:p>
        </p:txBody>
      </p:sp>
      <p:sp>
        <p:nvSpPr>
          <p:cNvPr id="20" name="Shape 20"/>
          <p:cNvSpPr/>
          <p:nvPr/>
        </p:nvSpPr>
        <p:spPr>
          <a:xfrm>
            <a:off x="457200" y="2670000"/>
            <a:ext cx="4000000" cy="49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548640" y="2670000"/>
            <a:ext cx="150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บรรณาธิการ</a:t>
            </a:r>
            <a:endParaRPr lang="th-TH" sz="1400" dirty="0"/>
          </a:p>
        </p:txBody>
      </p:sp>
      <p:sp>
        <p:nvSpPr>
          <p:cNvPr id="22" name="Text 22"/>
          <p:cNvSpPr txBox="1"/>
          <p:nvPr/>
        </p:nvSpPr>
        <p:spPr>
          <a:xfrm>
            <a:off x="2057200" y="2670000"/>
            <a:ext cx="232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แก้ร่างเนื้อหา</a:t>
            </a:r>
            <a:endParaRPr lang="th-TH" sz="1300" dirty="0"/>
          </a:p>
        </p:txBody>
      </p:sp>
      <p:sp>
        <p:nvSpPr>
          <p:cNvPr id="23" name="Shape 23"/>
          <p:cNvSpPr/>
          <p:nvPr/>
        </p:nvSpPr>
        <p:spPr>
          <a:xfrm>
            <a:off x="457200" y="3230000"/>
            <a:ext cx="4000000" cy="49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548640" y="3230000"/>
            <a:ext cx="150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</a:t>
            </a:r>
            <a:endParaRPr lang="th-TH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2057200" y="3230000"/>
            <a:ext cx="232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อนุมัติเนื้อหา</a:t>
            </a:r>
            <a:endParaRPr lang="th-TH" sz="1300" dirty="0"/>
          </a:p>
        </p:txBody>
      </p:sp>
      <p:sp>
        <p:nvSpPr>
          <p:cNvPr id="26" name="Shape 26"/>
          <p:cNvSpPr/>
          <p:nvPr/>
        </p:nvSpPr>
        <p:spPr>
          <a:xfrm>
            <a:off x="457200" y="3790000"/>
            <a:ext cx="4000000" cy="49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/>
          <p:cNvSpPr txBox="1"/>
          <p:nvPr/>
        </p:nvSpPr>
        <p:spPr>
          <a:xfrm>
            <a:off x="548640" y="3790000"/>
            <a:ext cx="150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th-TH" sz="1400" dirty="0"/>
          </a:p>
        </p:txBody>
      </p:sp>
      <p:sp>
        <p:nvSpPr>
          <p:cNvPr id="28" name="Text 28"/>
          <p:cNvSpPr txBox="1"/>
          <p:nvPr/>
        </p:nvSpPr>
        <p:spPr>
          <a:xfrm>
            <a:off x="2057200" y="3790000"/>
            <a:ext cx="232000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จัดการทุกอย่าง</a:t>
            </a:r>
            <a:endParaRPr lang="th-TH" sz="1300" dirty="0"/>
          </a:p>
        </p:txBody>
      </p:sp>
      <p:sp>
        <p:nvSpPr>
          <p:cNvPr id="29" name="Text 29"/>
          <p:cNvSpPr txBox="1"/>
          <p:nvPr/>
        </p:nvSpPr>
        <p:spPr>
          <a:xfrm>
            <a:off x="4686800" y="1150000"/>
            <a:ext cx="40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7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ในองค์กร</a:t>
            </a:r>
            <a:endParaRPr lang="th-TH" sz="1700" dirty="0"/>
          </a:p>
        </p:txBody>
      </p:sp>
      <p:sp>
        <p:nvSpPr>
          <p:cNvPr id="30" name="Shape 30"/>
          <p:cNvSpPr/>
          <p:nvPr/>
        </p:nvSpPr>
        <p:spPr>
          <a:xfrm>
            <a:off x="4686800" y="1550000"/>
            <a:ext cx="4000000" cy="63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4778240" y="1550000"/>
            <a:ext cx="150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</a:t>
            </a:r>
            <a:endParaRPr lang="th-TH" sz="1400" dirty="0"/>
          </a:p>
        </p:txBody>
      </p:sp>
      <p:sp>
        <p:nvSpPr>
          <p:cNvPr id="32" name="Text 32"/>
          <p:cNvSpPr txBox="1"/>
          <p:nvPr/>
        </p:nvSpPr>
        <p:spPr>
          <a:xfrm>
            <a:off x="6286800" y="1550000"/>
            <a:ext cx="232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ทุกอย่างในองค์กร</a:t>
            </a:r>
            <a:endParaRPr lang="th-TH" sz="1300" dirty="0"/>
          </a:p>
        </p:txBody>
      </p:sp>
      <p:sp>
        <p:nvSpPr>
          <p:cNvPr id="33" name="Shape 33"/>
          <p:cNvSpPr/>
          <p:nvPr/>
        </p:nvSpPr>
        <p:spPr>
          <a:xfrm>
            <a:off x="4686800" y="2250000"/>
            <a:ext cx="4000000" cy="63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4778240" y="2250000"/>
            <a:ext cx="150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</a:t>
            </a:r>
            <a:endParaRPr lang="th-TH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6286800" y="2250000"/>
            <a:ext cx="232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จัดการสมาชิก</a:t>
            </a:r>
            <a:endParaRPr lang="th-TH" sz="1300" dirty="0"/>
          </a:p>
        </p:txBody>
      </p:sp>
      <p:sp>
        <p:nvSpPr>
          <p:cNvPr id="36" name="Shape 36"/>
          <p:cNvSpPr/>
          <p:nvPr/>
        </p:nvSpPr>
        <p:spPr>
          <a:xfrm>
            <a:off x="4686800" y="2950000"/>
            <a:ext cx="4000000" cy="63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4778240" y="2950000"/>
            <a:ext cx="150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สมาชิก</a:t>
            </a:r>
            <a:endParaRPr lang="th-TH" sz="1400" dirty="0"/>
          </a:p>
        </p:txBody>
      </p:sp>
      <p:sp>
        <p:nvSpPr>
          <p:cNvPr id="38" name="Text 38"/>
          <p:cNvSpPr txBox="1"/>
          <p:nvPr/>
        </p:nvSpPr>
        <p:spPr>
          <a:xfrm>
            <a:off x="6286800" y="2950000"/>
            <a:ext cx="232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 อัปโหลดสัญญา</a:t>
            </a:r>
            <a:endParaRPr lang="th-TH" sz="1300" dirty="0"/>
          </a:p>
        </p:txBody>
      </p:sp>
      <p:sp>
        <p:nvSpPr>
          <p:cNvPr id="39" name="Shape 39"/>
          <p:cNvSpPr/>
          <p:nvPr/>
        </p:nvSpPr>
        <p:spPr>
          <a:xfrm>
            <a:off x="4686800" y="3650000"/>
            <a:ext cx="4000000" cy="63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4778240" y="3650000"/>
            <a:ext cx="150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ที่ปรึกษากฎหมาย</a:t>
            </a:r>
            <a:endParaRPr lang="th-TH" sz="1400" dirty="0"/>
          </a:p>
        </p:txBody>
      </p:sp>
      <p:sp>
        <p:nvSpPr>
          <p:cNvPr id="41" name="Text 41"/>
          <p:cNvSpPr txBox="1"/>
          <p:nvPr/>
        </p:nvSpPr>
        <p:spPr>
          <a:xfrm>
            <a:off x="6286800" y="3650000"/>
            <a:ext cx="2320000" cy="6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3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รับเรื่องที่ส่งมา</a:t>
            </a:r>
            <a:endParaRPr lang="th-TH" sz="13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สถานะปัจจุบัน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ทำงานได้แล้ว และ pilot ต้องมีอะไร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57200" y="1188720"/>
            <a:ext cx="4000000" cy="32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607200" y="1280000"/>
            <a:ext cx="3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7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ทำงานได้แล้ว (บนเครื่องทดสอบ)</a:t>
            </a:r>
            <a:endParaRPr lang="th-TH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607200" y="1780000"/>
            <a:ext cx="37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ถามกฎหมาย คลังความรู้</a:t>
            </a:r>
            <a:endParaRPr lang="th-TH" sz="1500" dirty="0"/>
          </a:p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แบบหนังสือ DOCX/PDF</a:t>
            </a:r>
            <a:endParaRPr lang="th-TH" sz="1500" dirty="0"/>
          </a:p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องค์กรและตรวจสัญญา</a:t>
            </a:r>
            <a:endParaRPr lang="th-TH" sz="1500" dirty="0"/>
          </a:p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หลังบ้านและขั้นตอนตรวจ</a:t>
            </a:r>
            <a:endParaRPr lang="th-TH" sz="1500" dirty="0"/>
          </a:p>
        </p:txBody>
      </p:sp>
      <p:sp>
        <p:nvSpPr>
          <p:cNvPr id="16" name="Shape 16"/>
          <p:cNvSpPr/>
          <p:nvPr/>
        </p:nvSpPr>
        <p:spPr>
          <a:xfrm>
            <a:off x="4686800" y="1188720"/>
            <a:ext cx="40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4836800" y="1280000"/>
            <a:ext cx="3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7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ต้องมีก่อน pilot</a:t>
            </a:r>
            <a:endParaRPr lang="th-TH" sz="1700" dirty="0"/>
          </a:p>
        </p:txBody>
      </p:sp>
      <p:sp>
        <p:nvSpPr>
          <p:cNvPr id="18" name="Text 18"/>
          <p:cNvSpPr txBox="1"/>
          <p:nvPr/>
        </p:nvSpPr>
        <p:spPr>
          <a:xfrm>
            <a:off x="4836800" y="1780000"/>
            <a:ext cx="37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ผู้ตรวจที่เป็นนักกฎหมาย (เนื้อหา 43 ชิ้นเป็นฉบับร่าง)</a:t>
            </a:r>
            <a:endParaRPr lang="th-TH" sz="1500" dirty="0"/>
          </a:p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VM โดเมน และ SMTP จริง</a:t>
            </a:r>
            <a:endParaRPr lang="th-TH" sz="1500" dirty="0"/>
          </a:p>
          <a:p>
            <a:pPr marL="228600" indent="-228600" algn="l">
              <a:spcAft>
                <a:spcPts val="800"/>
              </a:spcAft>
              <a:buClr>
                <a:srgbClr val="1F3864"/>
              </a:buClr>
              <a:buFont typeface="Arial"/>
              <a:buChar char="•"/>
            </a:pPr>
            <a:r>
              <a:rPr lang="th-TH" sz="15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pentest โดยบุคคลที่สาม</a:t>
            </a:r>
            <a:endParaRPr lang="th-TH" sz="1500" dirty="0"/>
          </a:p>
        </p:txBody>
      </p:sp>
      <p:sp>
        <p:nvSpPr>
          <p:cNvPr id="19" name="Shape 19"/>
          <p:cNvSpPr/>
          <p:nvPr/>
        </p:nvSpPr>
        <p:spPr>
          <a:xfrm>
            <a:off x="4686800" y="1188720"/>
            <a:ext cx="4000000" cy="3200000"/>
          </a:xfrm>
          <a:prstGeom prst="rect">
            <a:avLst/>
          </a:prstGeom>
          <a:noFill/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แผนถัดไป (ยังไม่พัฒนา)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สิ่งที่วางแผนไว้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57200" y="1280000"/>
            <a:ext cx="8229600" cy="9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640080" y="1280000"/>
            <a:ext cx="2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ม.ค. 2570</a:t>
            </a:r>
            <a:endParaRPr lang="th-TH" sz="1800" dirty="0"/>
          </a:p>
        </p:txBody>
      </p:sp>
      <p:sp>
        <p:nvSpPr>
          <p:cNvPr id="15" name="Text 15"/>
          <p:cNvSpPr txBox="1"/>
          <p:nvPr/>
        </p:nvSpPr>
        <p:spPr>
          <a:xfrm>
            <a:off x="2700000" y="1280000"/>
            <a:ext cx="58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 pilot กับองค์กรนำร่อง 3–5 แห่ง</a:t>
            </a:r>
            <a:endParaRPr lang="th-TH" sz="1800" dirty="0"/>
          </a:p>
        </p:txBody>
      </p:sp>
      <p:sp>
        <p:nvSpPr>
          <p:cNvPr id="16" name="Shape 16"/>
          <p:cNvSpPr/>
          <p:nvPr/>
        </p:nvSpPr>
        <p:spPr>
          <a:xfrm>
            <a:off x="457200" y="2310000"/>
            <a:ext cx="8229600" cy="9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640080" y="2310000"/>
            <a:ext cx="2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 2</a:t>
            </a:r>
            <a:endParaRPr lang="th-TH" sz="1800" dirty="0"/>
          </a:p>
        </p:txBody>
      </p:sp>
      <p:sp>
        <p:nvSpPr>
          <p:cNvPr id="18" name="Text 18"/>
          <p:cNvSpPr txBox="1"/>
          <p:nvPr/>
        </p:nvSpPr>
        <p:spPr>
          <a:xfrm>
            <a:off x="2700000" y="2310000"/>
            <a:ext cx="58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บริการบุคคลทั่วไปเต็มรูปแบบ</a:t>
            </a:r>
            <a:endParaRPr lang="th-TH" sz="1800" dirty="0"/>
          </a:p>
        </p:txBody>
      </p:sp>
      <p:sp>
        <p:nvSpPr>
          <p:cNvPr id="19" name="Shape 19"/>
          <p:cNvSpPr/>
          <p:nvPr/>
        </p:nvSpPr>
        <p:spPr>
          <a:xfrm>
            <a:off x="457200" y="3340000"/>
            <a:ext cx="8229600" cy="9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40080" y="3340000"/>
            <a:ext cx="2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 2</a:t>
            </a:r>
            <a:endParaRPr lang="th-TH" sz="1800" dirty="0"/>
          </a:p>
        </p:txBody>
      </p:sp>
      <p:sp>
        <p:nvSpPr>
          <p:cNvPr id="21" name="Text 21"/>
          <p:cNvSpPr txBox="1"/>
          <p:nvPr/>
        </p:nvSpPr>
        <p:spPr>
          <a:xfrm>
            <a:off x="2700000" y="3340000"/>
            <a:ext cx="58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8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หมวดกฎหมายอื่น</a:t>
            </a:r>
            <a:endParaRPr lang="th-TH" sz="18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64A042-9D28-3BEA-CAD2-62FBCD3CA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17</a:t>
            </a:fld>
            <a:endParaRPr lang="en-TH"/>
          </a:p>
        </p:txBody>
      </p:sp>
      <p:sp>
        <p:nvSpPr>
          <p:cNvPr id="3" name="Shape 154">
            <a:extLst>
              <a:ext uri="{FF2B5EF4-FFF2-40B4-BE49-F238E27FC236}">
                <a16:creationId xmlns:a16="http://schemas.microsoft.com/office/drawing/2014/main" id="{568DA081-34E7-3934-7D14-E107F7F2FBA0}"/>
              </a:ext>
            </a:extLst>
          </p:cNvPr>
          <p:cNvSpPr txBox="1">
            <a:spLocks/>
          </p:cNvSpPr>
          <p:nvPr/>
        </p:nvSpPr>
        <p:spPr>
          <a:xfrm>
            <a:off x="351631" y="1875244"/>
            <a:ext cx="4037489" cy="1393011"/>
          </a:xfrm>
          <a:prstGeom prst="rect">
            <a:avLst/>
          </a:prstGeom>
        </p:spPr>
        <p:txBody>
          <a:bodyPr anchor="ctr"/>
          <a:lstStyle>
            <a:lvl1pPr algn="ctr" defTabSz="467359" rtl="0" eaLnBrk="1" latinLnBrk="0" hangingPunct="1"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ขอบคุณ</a:t>
            </a:r>
          </a:p>
        </p:txBody>
      </p:sp>
    </p:spTree>
    <p:extLst>
      <p:ext uri="{BB962C8B-B14F-4D97-AF65-F5344CB8AC3E}">
        <p14:creationId xmlns:p14="http://schemas.microsoft.com/office/powerpoint/2010/main" val="3372988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 txBox="1"/>
          <p:nvPr/>
        </p:nvSpPr>
        <p:spPr>
          <a:xfrm>
            <a:off x="457200" y="274320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5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ความปลอดภัยและข้อมูลส่วนบุคคล</a:t>
            </a:r>
            <a:endParaRPr lang="th-TH" sz="1050" dirty="0"/>
          </a:p>
        </p:txBody>
      </p:sp>
      <p:sp>
        <p:nvSpPr>
          <p:cNvPr id="12" name="Title 1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2200" b="1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ข้อมูลของผู้ใช้ได้รับการปกป้องอย่างไร</a:t>
            </a:r>
            <a:endParaRPr lang="th-TH" sz="2200" dirty="0"/>
          </a:p>
        </p:txBody>
      </p:sp>
      <p:sp>
        <p:nvSpPr>
          <p:cNvPr id="13" name="Shape 13"/>
          <p:cNvSpPr/>
          <p:nvPr/>
        </p:nvSpPr>
        <p:spPr>
          <a:xfrm>
            <a:off x="457200" y="118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607200" y="129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ปกปิดข้อมูลส่วนบุคคล</a:t>
            </a:r>
            <a:endParaRPr lang="th-TH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607200" y="165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ปกปิดเลขบัตร เบอร์โทร เลขบัญชี อีเมล ก่อนส่งออกนอกระบบ รวมถึงข้อความสัญญา</a:t>
            </a:r>
            <a:endParaRPr lang="th-TH" sz="1200" dirty="0"/>
          </a:p>
        </p:txBody>
      </p:sp>
      <p:sp>
        <p:nvSpPr>
          <p:cNvPr id="16" name="Shape 16"/>
          <p:cNvSpPr/>
          <p:nvPr/>
        </p:nvSpPr>
        <p:spPr>
          <a:xfrm>
            <a:off x="3264408" y="118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3414408" y="129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สัญญาเข้ารหัส สแกนไวรัส</a:t>
            </a:r>
            <a:endParaRPr lang="th-TH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3414408" y="165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ไฟล์สัญญาถูกสแกนไวรัสก่อนรับ และเข้ารหัสก่อนเก็บ</a:t>
            </a:r>
            <a:endParaRPr lang="th-TH" sz="1200" dirty="0"/>
          </a:p>
        </p:txBody>
      </p:sp>
      <p:sp>
        <p:nvSpPr>
          <p:cNvPr id="19" name="Shape 19"/>
          <p:cNvSpPr/>
          <p:nvPr/>
        </p:nvSpPr>
        <p:spPr>
          <a:xfrm>
            <a:off x="6071616" y="118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6221616" y="129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ข้อมูลแยกตามองค์กร</a:t>
            </a:r>
            <a:endParaRPr lang="th-TH" sz="1400" dirty="0"/>
          </a:p>
        </p:txBody>
      </p:sp>
      <p:sp>
        <p:nvSpPr>
          <p:cNvPr id="21" name="Text 21"/>
          <p:cNvSpPr txBox="1"/>
          <p:nvPr/>
        </p:nvSpPr>
        <p:spPr>
          <a:xfrm>
            <a:off x="6221616" y="165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ข้อมูลแต่ละองค์กรแยกกัน มีชุดทดสอบการเข้าข้ามองค์กร</a:t>
            </a:r>
            <a:endParaRPr lang="th-TH" sz="1200" dirty="0"/>
          </a:p>
        </p:txBody>
      </p:sp>
      <p:sp>
        <p:nvSpPr>
          <p:cNvPr id="22" name="Shape 22"/>
          <p:cNvSpPr/>
          <p:nvPr/>
        </p:nvSpPr>
        <p:spPr>
          <a:xfrm>
            <a:off x="457200" y="280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607200" y="291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</a:t>
            </a:r>
            <a:endParaRPr lang="th-TH" sz="1400" dirty="0"/>
          </a:p>
        </p:txBody>
      </p:sp>
      <p:sp>
        <p:nvSpPr>
          <p:cNvPr id="24" name="Text 24"/>
          <p:cNvSpPr txBox="1"/>
          <p:nvPr/>
        </p:nvSpPr>
        <p:spPr>
          <a:xfrm>
            <a:off x="607200" y="327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ขอความยินยอม ดาวน์โหลดและลบข้อมูลตัวเองได้ (ลบมีช่วงเปลี่ยนใจ 30 วัน)</a:t>
            </a:r>
            <a:endParaRPr lang="th-TH" sz="1200" dirty="0"/>
          </a:p>
        </p:txBody>
      </p:sp>
      <p:sp>
        <p:nvSpPr>
          <p:cNvPr id="25" name="Shape 25"/>
          <p:cNvSpPr/>
          <p:nvPr/>
        </p:nvSpPr>
        <p:spPr>
          <a:xfrm>
            <a:off x="3264408" y="280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3414408" y="291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ควบคุมการใช้งานและทีมงาน</a:t>
            </a:r>
            <a:endParaRPr lang="th-TH" sz="1400" dirty="0"/>
          </a:p>
        </p:txBody>
      </p:sp>
      <p:sp>
        <p:nvSpPr>
          <p:cNvPr id="27" name="Text 27"/>
          <p:cNvSpPr txBox="1"/>
          <p:nvPr/>
        </p:nvSpPr>
        <p:spPr>
          <a:xfrm>
            <a:off x="3414408" y="327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จำกัดการใช้งาน มีสวิตช์ฉุกเฉิน ทีมงานใช้ 2 ขั้นตอน (เปิดบังคับได้)</a:t>
            </a:r>
            <a:endParaRPr lang="th-TH" sz="1200" dirty="0"/>
          </a:p>
        </p:txBody>
      </p:sp>
      <p:sp>
        <p:nvSpPr>
          <p:cNvPr id="28" name="Shape 28"/>
          <p:cNvSpPr/>
          <p:nvPr/>
        </p:nvSpPr>
        <p:spPr>
          <a:xfrm>
            <a:off x="6071616" y="2808720"/>
            <a:ext cx="2606040" cy="1500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221616" y="2918720"/>
            <a:ext cx="23060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400" b="1" i="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</a:t>
            </a:r>
            <a:endParaRPr lang="th-TH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6221616" y="3278720"/>
            <a:ext cx="230604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th-TH" sz="1200" b="0" i="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สำรองข้อมูลแบบเข้ารหัส และพิสูจน์แล้วว่ากู้คืนได้</a:t>
            </a:r>
            <a:endParaRPr lang="th-TH" sz="1200" dirty="0"/>
          </a:p>
        </p:txBody>
      </p:sp>
      <p:sp>
        <p:nvSpPr>
          <p:cNvPr id="31" name="Text 31"/>
          <p:cNvSpPr txBox="1"/>
          <p:nvPr/>
        </p:nvSpPr>
        <p:spPr>
          <a:xfrm>
            <a:off x="457200" y="444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100" b="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ตรวจสอบภายใน ยังไม่ผ่าน pentest โดยบุคคลที่สาม</a:t>
            </a:r>
            <a:endParaRPr lang="th-TH" sz="1100" dirty="0"/>
          </a:p>
        </p:txBody>
      </p:sp>
      <p:sp>
        <p:nvSpPr>
          <p:cNvPr id="999" name="Slide Number Placeholder 99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12</a:t>
            </a:fld>
            <a:endParaRPr lang="en-T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นิติมิตร — ฟีเจอร์และหน้าจอระบบ v1.0.4</dc:title>
  <dc:subject>ข้อมูลกฎหมายสำหรับองค์กรและบุคคล</dc:subject>
  <dc:creator>PptxGenJS</dc:creator>
  <cp:lastModifiedBy>Tiptara Seeluang</cp:lastModifiedBy>
  <cp:revision>3</cp:revision>
  <dcterms:created xsi:type="dcterms:W3CDTF">2026-09-29T01:38:42Z</dcterms:created>
  <dcterms:modified xsi:type="dcterms:W3CDTF">2026-10-02T09:00:00Z</dcterms:modified>
</cp:coreProperties>
</file>